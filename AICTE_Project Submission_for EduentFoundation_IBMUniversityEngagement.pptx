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258" r:id="rId4"/>
    <p:sldId id="259" r:id="rId5"/>
    <p:sldId id="273" r:id="rId6"/>
    <p:sldId id="260" r:id="rId7"/>
    <p:sldId id="261" r:id="rId8"/>
    <p:sldId id="262" r:id="rId9"/>
    <p:sldId id="263" r:id="rId10"/>
    <p:sldId id="264" r:id="rId11"/>
    <p:sldId id="274" r:id="rId12"/>
    <p:sldId id="265" r:id="rId13"/>
    <p:sldId id="266" r:id="rId14"/>
    <p:sldId id="267" r:id="rId15"/>
    <p:sldId id="272" r:id="rId16"/>
    <p:sldId id="268" r:id="rId17"/>
    <p:sldId id="269" r:id="rId18"/>
    <p:sldId id="270" r:id="rId19"/>
    <p:sldId id="271"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765" autoAdjust="0"/>
    <p:restoredTop sz="94660"/>
  </p:normalViewPr>
  <p:slideViewPr>
    <p:cSldViewPr snapToGrid="0">
      <p:cViewPr varScale="1">
        <p:scale>
          <a:sx n="87" d="100"/>
          <a:sy n="87" d="100"/>
        </p:scale>
        <p:origin x="77"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visha Oberoi" userId="53eeec9ee08c9a47" providerId="LiveId" clId="{BC538C9E-A6CF-4B31-A33A-2E155DC672D8}"/>
    <pc:docChg chg="undo redo custSel addSld delSld modSld">
      <pc:chgData name="Lavisha Oberoi" userId="53eeec9ee08c9a47" providerId="LiveId" clId="{BC538C9E-A6CF-4B31-A33A-2E155DC672D8}" dt="2026-07-13T20:36:03.396" v="270" actId="47"/>
      <pc:docMkLst>
        <pc:docMk/>
      </pc:docMkLst>
      <pc:sldChg chg="modSp mod">
        <pc:chgData name="Lavisha Oberoi" userId="53eeec9ee08c9a47" providerId="LiveId" clId="{BC538C9E-A6CF-4B31-A33A-2E155DC672D8}" dt="2026-07-12T14:16:09.337" v="14" actId="20577"/>
        <pc:sldMkLst>
          <pc:docMk/>
          <pc:sldMk cId="0" sldId="256"/>
        </pc:sldMkLst>
        <pc:spChg chg="mod">
          <ac:chgData name="Lavisha Oberoi" userId="53eeec9ee08c9a47" providerId="LiveId" clId="{BC538C9E-A6CF-4B31-A33A-2E155DC672D8}" dt="2026-07-12T14:16:09.337" v="14" actId="20577"/>
          <ac:spMkLst>
            <pc:docMk/>
            <pc:sldMk cId="0" sldId="256"/>
            <ac:spMk id="79" creationId="{00000000-0000-0000-0000-000000000000}"/>
          </ac:spMkLst>
        </pc:spChg>
      </pc:sldChg>
      <pc:sldChg chg="addSp delSp modSp mod">
        <pc:chgData name="Lavisha Oberoi" userId="53eeec9ee08c9a47" providerId="LiveId" clId="{BC538C9E-A6CF-4B31-A33A-2E155DC672D8}" dt="2026-07-13T09:55:25.353" v="93" actId="122"/>
        <pc:sldMkLst>
          <pc:docMk/>
          <pc:sldMk cId="0" sldId="257"/>
        </pc:sldMkLst>
        <pc:spChg chg="mod">
          <ac:chgData name="Lavisha Oberoi" userId="53eeec9ee08c9a47" providerId="LiveId" clId="{BC538C9E-A6CF-4B31-A33A-2E155DC672D8}" dt="2026-07-13T09:55:25.353" v="93" actId="122"/>
          <ac:spMkLst>
            <pc:docMk/>
            <pc:sldMk cId="0" sldId="257"/>
            <ac:spMk id="89" creationId="{00000000-0000-0000-0000-000000000000}"/>
          </ac:spMkLst>
        </pc:spChg>
        <pc:graphicFrameChg chg="modGraphic">
          <ac:chgData name="Lavisha Oberoi" userId="53eeec9ee08c9a47" providerId="LiveId" clId="{BC538C9E-A6CF-4B31-A33A-2E155DC672D8}" dt="2026-07-13T09:54:57.676" v="84" actId="255"/>
          <ac:graphicFrameMkLst>
            <pc:docMk/>
            <pc:sldMk cId="0" sldId="257"/>
            <ac:graphicFrameMk id="86" creationId="{00000000-0000-0000-0000-000000000000}"/>
          </ac:graphicFrameMkLst>
        </pc:graphicFrameChg>
        <pc:picChg chg="add mod">
          <ac:chgData name="Lavisha Oberoi" userId="53eeec9ee08c9a47" providerId="LiveId" clId="{BC538C9E-A6CF-4B31-A33A-2E155DC672D8}" dt="2026-07-12T17:33:00.698" v="20" actId="1076"/>
          <ac:picMkLst>
            <pc:docMk/>
            <pc:sldMk cId="0" sldId="257"/>
            <ac:picMk id="3" creationId="{724174ED-E623-614B-D4D2-3E5CA930EDED}"/>
          </ac:picMkLst>
        </pc:picChg>
        <pc:picChg chg="del">
          <ac:chgData name="Lavisha Oberoi" userId="53eeec9ee08c9a47" providerId="LiveId" clId="{BC538C9E-A6CF-4B31-A33A-2E155DC672D8}" dt="2026-07-12T17:32:21.551" v="15" actId="478"/>
          <ac:picMkLst>
            <pc:docMk/>
            <pc:sldMk cId="0" sldId="257"/>
            <ac:picMk id="87" creationId="{00000000-0000-0000-0000-000000000000}"/>
          </ac:picMkLst>
        </pc:picChg>
      </pc:sldChg>
      <pc:sldChg chg="modSp mod">
        <pc:chgData name="Lavisha Oberoi" userId="53eeec9ee08c9a47" providerId="LiveId" clId="{BC538C9E-A6CF-4B31-A33A-2E155DC672D8}" dt="2026-07-13T14:57:28.935" v="127" actId="12"/>
        <pc:sldMkLst>
          <pc:docMk/>
          <pc:sldMk cId="0" sldId="258"/>
        </pc:sldMkLst>
        <pc:spChg chg="mod">
          <ac:chgData name="Lavisha Oberoi" userId="53eeec9ee08c9a47" providerId="LiveId" clId="{BC538C9E-A6CF-4B31-A33A-2E155DC672D8}" dt="2026-07-13T14:57:28.935" v="127" actId="12"/>
          <ac:spMkLst>
            <pc:docMk/>
            <pc:sldMk cId="0" sldId="258"/>
            <ac:spMk id="95" creationId="{00000000-0000-0000-0000-000000000000}"/>
          </ac:spMkLst>
        </pc:spChg>
      </pc:sldChg>
      <pc:sldChg chg="modSp mod">
        <pc:chgData name="Lavisha Oberoi" userId="53eeec9ee08c9a47" providerId="LiveId" clId="{BC538C9E-A6CF-4B31-A33A-2E155DC672D8}" dt="2026-07-13T15:01:24.654" v="137" actId="1076"/>
        <pc:sldMkLst>
          <pc:docMk/>
          <pc:sldMk cId="0" sldId="259"/>
        </pc:sldMkLst>
        <pc:spChg chg="mod">
          <ac:chgData name="Lavisha Oberoi" userId="53eeec9ee08c9a47" providerId="LiveId" clId="{BC538C9E-A6CF-4B31-A33A-2E155DC672D8}" dt="2026-07-13T15:01:17.337" v="136" actId="1076"/>
          <ac:spMkLst>
            <pc:docMk/>
            <pc:sldMk cId="0" sldId="259"/>
            <ac:spMk id="101" creationId="{00000000-0000-0000-0000-000000000000}"/>
          </ac:spMkLst>
        </pc:spChg>
        <pc:spChg chg="mod">
          <ac:chgData name="Lavisha Oberoi" userId="53eeec9ee08c9a47" providerId="LiveId" clId="{BC538C9E-A6CF-4B31-A33A-2E155DC672D8}" dt="2026-07-13T15:01:24.654" v="137" actId="1076"/>
          <ac:spMkLst>
            <pc:docMk/>
            <pc:sldMk cId="0" sldId="259"/>
            <ac:spMk id="102" creationId="{00000000-0000-0000-0000-000000000000}"/>
          </ac:spMkLst>
        </pc:spChg>
      </pc:sldChg>
      <pc:sldChg chg="modSp mod">
        <pc:chgData name="Lavisha Oberoi" userId="53eeec9ee08c9a47" providerId="LiveId" clId="{BC538C9E-A6CF-4B31-A33A-2E155DC672D8}" dt="2026-07-13T15:04:06.843" v="140" actId="20577"/>
        <pc:sldMkLst>
          <pc:docMk/>
          <pc:sldMk cId="0" sldId="260"/>
        </pc:sldMkLst>
        <pc:spChg chg="mod">
          <ac:chgData name="Lavisha Oberoi" userId="53eeec9ee08c9a47" providerId="LiveId" clId="{BC538C9E-A6CF-4B31-A33A-2E155DC672D8}" dt="2026-07-13T15:04:06.843" v="140" actId="20577"/>
          <ac:spMkLst>
            <pc:docMk/>
            <pc:sldMk cId="0" sldId="260"/>
            <ac:spMk id="108" creationId="{00000000-0000-0000-0000-000000000000}"/>
          </ac:spMkLst>
        </pc:spChg>
      </pc:sldChg>
      <pc:sldChg chg="addSp delSp modSp mod">
        <pc:chgData name="Lavisha Oberoi" userId="53eeec9ee08c9a47" providerId="LiveId" clId="{BC538C9E-A6CF-4B31-A33A-2E155DC672D8}" dt="2026-07-13T15:08:16.561" v="170" actId="20577"/>
        <pc:sldMkLst>
          <pc:docMk/>
          <pc:sldMk cId="0" sldId="261"/>
        </pc:sldMkLst>
        <pc:spChg chg="add">
          <ac:chgData name="Lavisha Oberoi" userId="53eeec9ee08c9a47" providerId="LiveId" clId="{BC538C9E-A6CF-4B31-A33A-2E155DC672D8}" dt="2026-07-13T15:05:47.776" v="141"/>
          <ac:spMkLst>
            <pc:docMk/>
            <pc:sldMk cId="0" sldId="261"/>
            <ac:spMk id="2" creationId="{89CE0AFA-D010-FB44-2CC4-EB1C78EA3155}"/>
          </ac:spMkLst>
        </pc:spChg>
        <pc:spChg chg="add del mod">
          <ac:chgData name="Lavisha Oberoi" userId="53eeec9ee08c9a47" providerId="LiveId" clId="{BC538C9E-A6CF-4B31-A33A-2E155DC672D8}" dt="2026-07-13T15:06:42.750" v="151" actId="478"/>
          <ac:spMkLst>
            <pc:docMk/>
            <pc:sldMk cId="0" sldId="261"/>
            <ac:spMk id="3" creationId="{0896502C-4F26-6CBF-C303-E47BAABCDD5D}"/>
          </ac:spMkLst>
        </pc:spChg>
        <pc:spChg chg="mod">
          <ac:chgData name="Lavisha Oberoi" userId="53eeec9ee08c9a47" providerId="LiveId" clId="{BC538C9E-A6CF-4B31-A33A-2E155DC672D8}" dt="2026-07-13T14:46:26.244" v="111" actId="20577"/>
          <ac:spMkLst>
            <pc:docMk/>
            <pc:sldMk cId="0" sldId="261"/>
            <ac:spMk id="113" creationId="{00000000-0000-0000-0000-000000000000}"/>
          </ac:spMkLst>
        </pc:spChg>
        <pc:spChg chg="add del mod">
          <ac:chgData name="Lavisha Oberoi" userId="53eeec9ee08c9a47" providerId="LiveId" clId="{BC538C9E-A6CF-4B31-A33A-2E155DC672D8}" dt="2026-07-13T15:08:16.561" v="170" actId="20577"/>
          <ac:spMkLst>
            <pc:docMk/>
            <pc:sldMk cId="0" sldId="261"/>
            <ac:spMk id="120" creationId="{00000000-0000-0000-0000-000000000000}"/>
          </ac:spMkLst>
        </pc:spChg>
      </pc:sldChg>
      <pc:sldChg chg="addSp delSp modSp mod">
        <pc:chgData name="Lavisha Oberoi" userId="53eeec9ee08c9a47" providerId="LiveId" clId="{BC538C9E-A6CF-4B31-A33A-2E155DC672D8}" dt="2026-07-13T18:11:23.579" v="239" actId="20577"/>
        <pc:sldMkLst>
          <pc:docMk/>
          <pc:sldMk cId="0" sldId="262"/>
        </pc:sldMkLst>
        <pc:spChg chg="mod">
          <ac:chgData name="Lavisha Oberoi" userId="53eeec9ee08c9a47" providerId="LiveId" clId="{BC538C9E-A6CF-4B31-A33A-2E155DC672D8}" dt="2026-07-13T18:11:23.579" v="239" actId="20577"/>
          <ac:spMkLst>
            <pc:docMk/>
            <pc:sldMk cId="0" sldId="262"/>
            <ac:spMk id="125" creationId="{00000000-0000-0000-0000-000000000000}"/>
          </ac:spMkLst>
        </pc:spChg>
        <pc:picChg chg="add del mod">
          <ac:chgData name="Lavisha Oberoi" userId="53eeec9ee08c9a47" providerId="LiveId" clId="{BC538C9E-A6CF-4B31-A33A-2E155DC672D8}" dt="2026-07-13T18:09:20.991" v="234" actId="478"/>
          <ac:picMkLst>
            <pc:docMk/>
            <pc:sldMk cId="0" sldId="262"/>
            <ac:picMk id="3" creationId="{3ED74F43-7B09-91B6-36B9-97A9BEB3082C}"/>
          </ac:picMkLst>
        </pc:picChg>
        <pc:picChg chg="add mod">
          <ac:chgData name="Lavisha Oberoi" userId="53eeec9ee08c9a47" providerId="LiveId" clId="{BC538C9E-A6CF-4B31-A33A-2E155DC672D8}" dt="2026-07-13T18:11:13.720" v="236" actId="1076"/>
          <ac:picMkLst>
            <pc:docMk/>
            <pc:sldMk cId="0" sldId="262"/>
            <ac:picMk id="5" creationId="{33295A22-2EE3-52C6-8D10-8A1F8AE7711F}"/>
          </ac:picMkLst>
        </pc:picChg>
        <pc:picChg chg="del">
          <ac:chgData name="Lavisha Oberoi" userId="53eeec9ee08c9a47" providerId="LiveId" clId="{BC538C9E-A6CF-4B31-A33A-2E155DC672D8}" dt="2026-07-13T18:06:31.965" v="228" actId="478"/>
          <ac:picMkLst>
            <pc:docMk/>
            <pc:sldMk cId="0" sldId="262"/>
            <ac:picMk id="126" creationId="{00000000-0000-0000-0000-000000000000}"/>
          </ac:picMkLst>
        </pc:picChg>
      </pc:sldChg>
      <pc:sldChg chg="addSp delSp modSp mod">
        <pc:chgData name="Lavisha Oberoi" userId="53eeec9ee08c9a47" providerId="LiveId" clId="{BC538C9E-A6CF-4B31-A33A-2E155DC672D8}" dt="2026-07-13T18:16:40.643" v="243" actId="1076"/>
        <pc:sldMkLst>
          <pc:docMk/>
          <pc:sldMk cId="0" sldId="263"/>
        </pc:sldMkLst>
        <pc:spChg chg="mod">
          <ac:chgData name="Lavisha Oberoi" userId="53eeec9ee08c9a47" providerId="LiveId" clId="{BC538C9E-A6CF-4B31-A33A-2E155DC672D8}" dt="2026-07-13T18:16:40.643" v="243" actId="1076"/>
          <ac:spMkLst>
            <pc:docMk/>
            <pc:sldMk cId="0" sldId="263"/>
            <ac:spMk id="131" creationId="{00000000-0000-0000-0000-000000000000}"/>
          </ac:spMkLst>
        </pc:spChg>
        <pc:picChg chg="add mod">
          <ac:chgData name="Lavisha Oberoi" userId="53eeec9ee08c9a47" providerId="LiveId" clId="{BC538C9E-A6CF-4B31-A33A-2E155DC672D8}" dt="2026-07-13T18:16:18.937" v="242" actId="1076"/>
          <ac:picMkLst>
            <pc:docMk/>
            <pc:sldMk cId="0" sldId="263"/>
            <ac:picMk id="3" creationId="{21CAC71A-C88F-573A-B1B5-5BFBF7A81404}"/>
          </ac:picMkLst>
        </pc:picChg>
        <pc:picChg chg="del">
          <ac:chgData name="Lavisha Oberoi" userId="53eeec9ee08c9a47" providerId="LiveId" clId="{BC538C9E-A6CF-4B31-A33A-2E155DC672D8}" dt="2026-07-13T18:13:54.635" v="240" actId="478"/>
          <ac:picMkLst>
            <pc:docMk/>
            <pc:sldMk cId="0" sldId="263"/>
            <ac:picMk id="132" creationId="{00000000-0000-0000-0000-000000000000}"/>
          </ac:picMkLst>
        </pc:picChg>
      </pc:sldChg>
      <pc:sldChg chg="modSp mod">
        <pc:chgData name="Lavisha Oberoi" userId="53eeec9ee08c9a47" providerId="LiveId" clId="{BC538C9E-A6CF-4B31-A33A-2E155DC672D8}" dt="2026-07-13T15:11:36.778" v="177"/>
        <pc:sldMkLst>
          <pc:docMk/>
          <pc:sldMk cId="0" sldId="264"/>
        </pc:sldMkLst>
        <pc:spChg chg="mod">
          <ac:chgData name="Lavisha Oberoi" userId="53eeec9ee08c9a47" providerId="LiveId" clId="{BC538C9E-A6CF-4B31-A33A-2E155DC672D8}" dt="2026-07-13T15:11:35.777" v="176" actId="1076"/>
          <ac:spMkLst>
            <pc:docMk/>
            <pc:sldMk cId="0" sldId="264"/>
            <ac:spMk id="138" creationId="{00000000-0000-0000-0000-000000000000}"/>
          </ac:spMkLst>
        </pc:spChg>
        <pc:spChg chg="mod">
          <ac:chgData name="Lavisha Oberoi" userId="53eeec9ee08c9a47" providerId="LiveId" clId="{BC538C9E-A6CF-4B31-A33A-2E155DC672D8}" dt="2026-07-13T15:11:36.778" v="177"/>
          <ac:spMkLst>
            <pc:docMk/>
            <pc:sldMk cId="0" sldId="264"/>
            <ac:spMk id="139" creationId="{00000000-0000-0000-0000-000000000000}"/>
          </ac:spMkLst>
        </pc:spChg>
      </pc:sldChg>
      <pc:sldChg chg="addSp delSp modSp mod">
        <pc:chgData name="Lavisha Oberoi" userId="53eeec9ee08c9a47" providerId="LiveId" clId="{BC538C9E-A6CF-4B31-A33A-2E155DC672D8}" dt="2026-07-13T17:55:03.334" v="222" actId="20577"/>
        <pc:sldMkLst>
          <pc:docMk/>
          <pc:sldMk cId="0" sldId="266"/>
        </pc:sldMkLst>
        <pc:spChg chg="add">
          <ac:chgData name="Lavisha Oberoi" userId="53eeec9ee08c9a47" providerId="LiveId" clId="{BC538C9E-A6CF-4B31-A33A-2E155DC672D8}" dt="2026-07-13T17:52:17.033" v="180"/>
          <ac:spMkLst>
            <pc:docMk/>
            <pc:sldMk cId="0" sldId="266"/>
            <ac:spMk id="2" creationId="{7BD2EA03-B579-C466-1DD2-0E85F61B88ED}"/>
          </ac:spMkLst>
        </pc:spChg>
        <pc:spChg chg="add">
          <ac:chgData name="Lavisha Oberoi" userId="53eeec9ee08c9a47" providerId="LiveId" clId="{BC538C9E-A6CF-4B31-A33A-2E155DC672D8}" dt="2026-07-13T17:52:23.699" v="181"/>
          <ac:spMkLst>
            <pc:docMk/>
            <pc:sldMk cId="0" sldId="266"/>
            <ac:spMk id="3" creationId="{3A658F19-EEB3-0B18-5F15-413A4590E4F3}"/>
          </ac:spMkLst>
        </pc:spChg>
        <pc:spChg chg="add mod">
          <ac:chgData name="Lavisha Oberoi" userId="53eeec9ee08c9a47" providerId="LiveId" clId="{BC538C9E-A6CF-4B31-A33A-2E155DC672D8}" dt="2026-07-13T17:55:03.334" v="222" actId="20577"/>
          <ac:spMkLst>
            <pc:docMk/>
            <pc:sldMk cId="0" sldId="266"/>
            <ac:spMk id="4" creationId="{A9A41517-234E-40C3-EEF4-FE94C055EC39}"/>
          </ac:spMkLst>
        </pc:spChg>
        <pc:spChg chg="mod">
          <ac:chgData name="Lavisha Oberoi" userId="53eeec9ee08c9a47" providerId="LiveId" clId="{BC538C9E-A6CF-4B31-A33A-2E155DC672D8}" dt="2026-07-13T17:54:57.511" v="220" actId="1076"/>
          <ac:spMkLst>
            <pc:docMk/>
            <pc:sldMk cId="0" sldId="266"/>
            <ac:spMk id="157" creationId="{00000000-0000-0000-0000-000000000000}"/>
          </ac:spMkLst>
        </pc:spChg>
        <pc:spChg chg="del mod">
          <ac:chgData name="Lavisha Oberoi" userId="53eeec9ee08c9a47" providerId="LiveId" clId="{BC538C9E-A6CF-4B31-A33A-2E155DC672D8}" dt="2026-07-13T17:52:43.990" v="185"/>
          <ac:spMkLst>
            <pc:docMk/>
            <pc:sldMk cId="0" sldId="266"/>
            <ac:spMk id="158" creationId="{00000000-0000-0000-0000-000000000000}"/>
          </ac:spMkLst>
        </pc:spChg>
      </pc:sldChg>
      <pc:sldChg chg="modSp mod">
        <pc:chgData name="Lavisha Oberoi" userId="53eeec9ee08c9a47" providerId="LiveId" clId="{BC538C9E-A6CF-4B31-A33A-2E155DC672D8}" dt="2026-07-13T20:29:52.966" v="269" actId="20577"/>
        <pc:sldMkLst>
          <pc:docMk/>
          <pc:sldMk cId="0" sldId="267"/>
        </pc:sldMkLst>
        <pc:spChg chg="mod">
          <ac:chgData name="Lavisha Oberoi" userId="53eeec9ee08c9a47" providerId="LiveId" clId="{BC538C9E-A6CF-4B31-A33A-2E155DC672D8}" dt="2026-07-13T20:29:52.966" v="269" actId="20577"/>
          <ac:spMkLst>
            <pc:docMk/>
            <pc:sldMk cId="0" sldId="267"/>
            <ac:spMk id="164" creationId="{00000000-0000-0000-0000-000000000000}"/>
          </ac:spMkLst>
        </pc:spChg>
      </pc:sldChg>
      <pc:sldChg chg="modSp mod">
        <pc:chgData name="Lavisha Oberoi" userId="53eeec9ee08c9a47" providerId="LiveId" clId="{BC538C9E-A6CF-4B31-A33A-2E155DC672D8}" dt="2026-07-13T17:58:26.819" v="226" actId="123"/>
        <pc:sldMkLst>
          <pc:docMk/>
          <pc:sldMk cId="0" sldId="268"/>
        </pc:sldMkLst>
        <pc:spChg chg="mod">
          <ac:chgData name="Lavisha Oberoi" userId="53eeec9ee08c9a47" providerId="LiveId" clId="{BC538C9E-A6CF-4B31-A33A-2E155DC672D8}" dt="2026-07-13T17:58:26.819" v="226" actId="123"/>
          <ac:spMkLst>
            <pc:docMk/>
            <pc:sldMk cId="0" sldId="268"/>
            <ac:spMk id="173" creationId="{00000000-0000-0000-0000-000000000000}"/>
          </ac:spMkLst>
        </pc:spChg>
      </pc:sldChg>
      <pc:sldChg chg="addSp delSp modSp mod">
        <pc:chgData name="Lavisha Oberoi" userId="53eeec9ee08c9a47" providerId="LiveId" clId="{BC538C9E-A6CF-4B31-A33A-2E155DC672D8}" dt="2026-07-13T14:45:03.272" v="106" actId="20577"/>
        <pc:sldMkLst>
          <pc:docMk/>
          <pc:sldMk cId="0" sldId="269"/>
        </pc:sldMkLst>
        <pc:spChg chg="mod">
          <ac:chgData name="Lavisha Oberoi" userId="53eeec9ee08c9a47" providerId="LiveId" clId="{BC538C9E-A6CF-4B31-A33A-2E155DC672D8}" dt="2026-07-13T14:45:03.272" v="106" actId="20577"/>
          <ac:spMkLst>
            <pc:docMk/>
            <pc:sldMk cId="0" sldId="269"/>
            <ac:spMk id="183" creationId="{00000000-0000-0000-0000-000000000000}"/>
          </ac:spMkLst>
        </pc:spChg>
        <pc:picChg chg="add mod">
          <ac:chgData name="Lavisha Oberoi" userId="53eeec9ee08c9a47" providerId="LiveId" clId="{BC538C9E-A6CF-4B31-A33A-2E155DC672D8}" dt="2026-07-13T14:43:54.046" v="99" actId="1076"/>
          <ac:picMkLst>
            <pc:docMk/>
            <pc:sldMk cId="0" sldId="269"/>
            <ac:picMk id="3" creationId="{F2FBD5A8-F837-8050-1AD6-579F366FC94E}"/>
          </ac:picMkLst>
        </pc:picChg>
        <pc:picChg chg="del">
          <ac:chgData name="Lavisha Oberoi" userId="53eeec9ee08c9a47" providerId="LiveId" clId="{BC538C9E-A6CF-4B31-A33A-2E155DC672D8}" dt="2026-07-13T14:43:04.554" v="96" actId="478"/>
          <ac:picMkLst>
            <pc:docMk/>
            <pc:sldMk cId="0" sldId="269"/>
            <ac:picMk id="181" creationId="{00000000-0000-0000-0000-000000000000}"/>
          </ac:picMkLst>
        </pc:picChg>
      </pc:sldChg>
      <pc:sldChg chg="addSp delSp modSp mod">
        <pc:chgData name="Lavisha Oberoi" userId="53eeec9ee08c9a47" providerId="LiveId" clId="{BC538C9E-A6CF-4B31-A33A-2E155DC672D8}" dt="2026-07-13T14:44:56.166" v="105" actId="20577"/>
        <pc:sldMkLst>
          <pc:docMk/>
          <pc:sldMk cId="0" sldId="270"/>
        </pc:sldMkLst>
        <pc:spChg chg="mod">
          <ac:chgData name="Lavisha Oberoi" userId="53eeec9ee08c9a47" providerId="LiveId" clId="{BC538C9E-A6CF-4B31-A33A-2E155DC672D8}" dt="2026-07-13T14:44:56.166" v="105" actId="20577"/>
          <ac:spMkLst>
            <pc:docMk/>
            <pc:sldMk cId="0" sldId="270"/>
            <ac:spMk id="190" creationId="{00000000-0000-0000-0000-000000000000}"/>
          </ac:spMkLst>
        </pc:spChg>
        <pc:picChg chg="add mod">
          <ac:chgData name="Lavisha Oberoi" userId="53eeec9ee08c9a47" providerId="LiveId" clId="{BC538C9E-A6CF-4B31-A33A-2E155DC672D8}" dt="2026-07-13T14:44:45.096" v="104" actId="1076"/>
          <ac:picMkLst>
            <pc:docMk/>
            <pc:sldMk cId="0" sldId="270"/>
            <ac:picMk id="3" creationId="{54255DC3-FBC8-FF35-E2C0-879B44A34537}"/>
          </ac:picMkLst>
        </pc:picChg>
        <pc:picChg chg="del">
          <ac:chgData name="Lavisha Oberoi" userId="53eeec9ee08c9a47" providerId="LiveId" clId="{BC538C9E-A6CF-4B31-A33A-2E155DC672D8}" dt="2026-07-13T14:43:59.196" v="100" actId="478"/>
          <ac:picMkLst>
            <pc:docMk/>
            <pc:sldMk cId="0" sldId="270"/>
            <ac:picMk id="188" creationId="{00000000-0000-0000-0000-000000000000}"/>
          </ac:picMkLst>
        </pc:picChg>
      </pc:sldChg>
      <pc:sldChg chg="addSp delSp modSp new mod modClrScheme chgLayout">
        <pc:chgData name="Lavisha Oberoi" userId="53eeec9ee08c9a47" providerId="LiveId" clId="{BC538C9E-A6CF-4B31-A33A-2E155DC672D8}" dt="2026-07-13T20:19:23.631" v="263" actId="478"/>
        <pc:sldMkLst>
          <pc:docMk/>
          <pc:sldMk cId="3391496778" sldId="272"/>
        </pc:sldMkLst>
        <pc:spChg chg="del">
          <ac:chgData name="Lavisha Oberoi" userId="53eeec9ee08c9a47" providerId="LiveId" clId="{BC538C9E-A6CF-4B31-A33A-2E155DC672D8}" dt="2026-07-13T20:16:04.306" v="245" actId="700"/>
          <ac:spMkLst>
            <pc:docMk/>
            <pc:sldMk cId="3391496778" sldId="272"/>
            <ac:spMk id="2" creationId="{39677722-C1EC-7E42-004B-69EA6EC20AFF}"/>
          </ac:spMkLst>
        </pc:spChg>
        <pc:spChg chg="del">
          <ac:chgData name="Lavisha Oberoi" userId="53eeec9ee08c9a47" providerId="LiveId" clId="{BC538C9E-A6CF-4B31-A33A-2E155DC672D8}" dt="2026-07-13T20:16:04.306" v="245" actId="700"/>
          <ac:spMkLst>
            <pc:docMk/>
            <pc:sldMk cId="3391496778" sldId="272"/>
            <ac:spMk id="3" creationId="{CE9E40C3-D207-31F1-75E3-C3876692C5FC}"/>
          </ac:spMkLst>
        </pc:spChg>
        <pc:picChg chg="add mod">
          <ac:chgData name="Lavisha Oberoi" userId="53eeec9ee08c9a47" providerId="LiveId" clId="{BC538C9E-A6CF-4B31-A33A-2E155DC672D8}" dt="2026-07-13T20:19:14.375" v="261" actId="1076"/>
          <ac:picMkLst>
            <pc:docMk/>
            <pc:sldMk cId="3391496778" sldId="272"/>
            <ac:picMk id="5" creationId="{FDBFFD63-FE2E-DCFC-84EF-42D6BFA41DD0}"/>
          </ac:picMkLst>
        </pc:picChg>
        <pc:picChg chg="add del mod">
          <ac:chgData name="Lavisha Oberoi" userId="53eeec9ee08c9a47" providerId="LiveId" clId="{BC538C9E-A6CF-4B31-A33A-2E155DC672D8}" dt="2026-07-13T20:19:23.631" v="263" actId="478"/>
          <ac:picMkLst>
            <pc:docMk/>
            <pc:sldMk cId="3391496778" sldId="272"/>
            <ac:picMk id="7" creationId="{12E19FF5-A5D2-0048-E390-7630A9E6E14C}"/>
          </ac:picMkLst>
        </pc:picChg>
      </pc:sldChg>
      <pc:sldChg chg="addSp new del mod">
        <pc:chgData name="Lavisha Oberoi" userId="53eeec9ee08c9a47" providerId="LiveId" clId="{BC538C9E-A6CF-4B31-A33A-2E155DC672D8}" dt="2026-07-13T20:36:03.396" v="270" actId="47"/>
        <pc:sldMkLst>
          <pc:docMk/>
          <pc:sldMk cId="453439837" sldId="273"/>
        </pc:sldMkLst>
        <pc:picChg chg="add">
          <ac:chgData name="Lavisha Oberoi" userId="53eeec9ee08c9a47" providerId="LiveId" clId="{BC538C9E-A6CF-4B31-A33A-2E155DC672D8}" dt="2026-07-13T20:16:42.408" v="248" actId="22"/>
          <ac:picMkLst>
            <pc:docMk/>
            <pc:sldMk cId="453439837" sldId="273"/>
            <ac:picMk id="3" creationId="{1FECCF77-4D87-3689-937B-05DFEFABBA90}"/>
          </ac:picMkLst>
        </pc:picChg>
      </pc:sldChg>
      <pc:sldChg chg="addSp new del mod">
        <pc:chgData name="Lavisha Oberoi" userId="53eeec9ee08c9a47" providerId="LiveId" clId="{BC538C9E-A6CF-4B31-A33A-2E155DC672D8}" dt="2026-07-13T20:17:20.362" v="251" actId="47"/>
        <pc:sldMkLst>
          <pc:docMk/>
          <pc:sldMk cId="1350205253" sldId="274"/>
        </pc:sldMkLst>
        <pc:picChg chg="add">
          <ac:chgData name="Lavisha Oberoi" userId="53eeec9ee08c9a47" providerId="LiveId" clId="{BC538C9E-A6CF-4B31-A33A-2E155DC672D8}" dt="2026-07-13T20:17:10.653" v="250" actId="22"/>
          <ac:picMkLst>
            <pc:docMk/>
            <pc:sldMk cId="1350205253" sldId="274"/>
            <ac:picMk id="3" creationId="{7B56AF4B-5849-CB44-708B-2B76326AB89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lavishaoberoi/AI-Powered-LaTeX-Diagram-Generator-for-Academic-Research.git"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dirty="0"/>
              <a:t>“Exploring the Power of Agentic AI with IBM Granite and IBM BOB”</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2268880528"/>
              </p:ext>
            </p:extLst>
          </p:nvPr>
        </p:nvGraphicFramePr>
        <p:xfrm>
          <a:off x="1310054" y="2600315"/>
          <a:ext cx="9384203" cy="2167125"/>
        </p:xfrm>
        <a:graphic>
          <a:graphicData uri="http://schemas.openxmlformats.org/drawingml/2006/table">
            <a:tbl>
              <a:tblPr>
                <a:noFill/>
                <a:tableStyleId>{F063BE5B-8E01-4B91-9C5C-8479B17E1E5F}</a:tableStyleId>
              </a:tblPr>
              <a:tblGrid>
                <a:gridCol w="2054078">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ctr" rtl="0">
                        <a:lnSpc>
                          <a:spcPct val="100000"/>
                        </a:lnSpc>
                        <a:spcBef>
                          <a:spcPts val="0"/>
                        </a:spcBef>
                        <a:spcAft>
                          <a:spcPts val="0"/>
                        </a:spcAft>
                        <a:buClr>
                          <a:srgbClr val="000000"/>
                        </a:buClr>
                        <a:buSzPts val="1400"/>
                        <a:buFont typeface="Arial"/>
                        <a:buNone/>
                      </a:pPr>
                      <a:r>
                        <a:rPr lang="en-IN" sz="2000" u="none" strike="noStrike" cap="none" dirty="0"/>
                        <a:t>LAVISHA OBEROI</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2000" u="none" strike="noStrike" cap="none" dirty="0"/>
                        <a:t>oberoilavisha28@gmail.com</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IN" sz="2000" u="none" strike="noStrike" cap="none" dirty="0"/>
                        <a:t>8810674599</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310054" y="1373602"/>
            <a:ext cx="11147028"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i="0" u="none" strike="noStrike" cap="none" dirty="0">
                <a:solidFill>
                  <a:srgbClr val="000000"/>
                </a:solidFill>
                <a:highlight>
                  <a:srgbClr val="FFFF00"/>
                </a:highlight>
                <a:latin typeface="Arial"/>
                <a:ea typeface="Arial"/>
                <a:cs typeface="Arial"/>
                <a:sym typeface="Arial"/>
              </a:rPr>
              <a:t>[</a:t>
            </a:r>
            <a:r>
              <a:rPr lang="en-US" sz="2000" b="1" i="0" u="none" strike="noStrike" cap="none" dirty="0">
                <a:solidFill>
                  <a:srgbClr val="000000"/>
                </a:solidFill>
                <a:highlight>
                  <a:srgbClr val="FFFF00"/>
                </a:highlight>
                <a:latin typeface="Arial"/>
                <a:ea typeface="Arial"/>
                <a:cs typeface="Arial"/>
                <a:sym typeface="Arial"/>
              </a:rPr>
              <a:t>RESEARCH / ACADEMIC RESEARCH / EDUCATION</a:t>
            </a:r>
            <a:r>
              <a:rPr lang="en-US" sz="2400" b="1" i="0" u="none" strike="noStrike" cap="none" dirty="0">
                <a:solidFill>
                  <a:srgbClr val="000000"/>
                </a:solidFill>
                <a:highlight>
                  <a:srgbClr val="FFFF00"/>
                </a:highlight>
                <a:latin typeface="Arial"/>
                <a:ea typeface="Arial"/>
                <a:cs typeface="Arial"/>
                <a:sym typeface="Arial"/>
              </a:rPr>
              <a:t>]</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4" y="358643"/>
            <a:ext cx="9581177" cy="954067"/>
          </a:xfrm>
          <a:prstGeom prst="rect">
            <a:avLst/>
          </a:prstGeom>
          <a:noFill/>
          <a:ln>
            <a:noFill/>
          </a:ln>
        </p:spPr>
        <p:txBody>
          <a:bodyPr spcFirstLastPara="1" wrap="square" lIns="91425" tIns="45700" rIns="91425" bIns="45700" anchor="t" anchorCtr="0">
            <a:spAutoFit/>
          </a:bodyPr>
          <a:lstStyle/>
          <a:p>
            <a:pPr lvl="0" algn="ctr"/>
            <a:r>
              <a:rPr lang="en-US" sz="2800" b="1" i="0" u="none" strike="noStrike" cap="none" dirty="0">
                <a:solidFill>
                  <a:srgbClr val="000000"/>
                </a:solidFill>
                <a:latin typeface="Arial"/>
                <a:ea typeface="Arial"/>
                <a:cs typeface="Arial"/>
                <a:sym typeface="Arial"/>
              </a:rPr>
              <a:t>Project Tile </a:t>
            </a:r>
            <a:r>
              <a:rPr lang="en-US" sz="2400" b="1" dirty="0"/>
              <a:t>:  </a:t>
            </a:r>
            <a:r>
              <a:rPr lang="en-US" sz="2800" b="1" dirty="0">
                <a:solidFill>
                  <a:schemeClr val="tx1"/>
                </a:solidFill>
                <a:latin typeface="+mj-lt"/>
                <a:ea typeface="Times New Roman"/>
                <a:cs typeface="Times New Roman"/>
                <a:sym typeface="Times New Roman"/>
              </a:rPr>
              <a:t>AI-Powered LaTeX Diagram Generator for Academic Research</a:t>
            </a:r>
            <a:endParaRPr sz="2800" b="1" i="0" u="none" strike="noStrike" cap="none" dirty="0">
              <a:solidFill>
                <a:srgbClr val="000000"/>
              </a:solidFill>
              <a:highlight>
                <a:srgbClr val="FFFF00"/>
              </a:highlight>
              <a:latin typeface="Arial"/>
              <a:ea typeface="Arial"/>
              <a:cs typeface="Arial"/>
              <a:sym typeface="Arial"/>
            </a:endParaRPr>
          </a:p>
        </p:txBody>
      </p:sp>
      <p:sp>
        <p:nvSpPr>
          <p:cNvPr id="90" name="Google Shape;90;p2"/>
          <p:cNvSpPr txBox="1"/>
          <p:nvPr/>
        </p:nvSpPr>
        <p:spPr>
          <a:xfrm>
            <a:off x="1211005" y="5210667"/>
            <a:ext cx="6456743" cy="16312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FF0000"/>
                </a:solidFill>
                <a:latin typeface="Arial"/>
                <a:ea typeface="Arial"/>
                <a:cs typeface="Arial"/>
                <a:sym typeface="Arial"/>
              </a:rPr>
              <a:t>Recommended font style and size:</a:t>
            </a:r>
            <a:br>
              <a:rPr lang="en-US" sz="2000" b="0" i="0" u="none" strike="noStrike" cap="none">
                <a:solidFill>
                  <a:srgbClr val="FF0000"/>
                </a:solidFill>
                <a:latin typeface="Arial"/>
                <a:ea typeface="Arial"/>
                <a:cs typeface="Arial"/>
                <a:sym typeface="Arial"/>
              </a:rPr>
            </a:br>
            <a:br>
              <a:rPr lang="en-US" sz="2000" b="0" i="0" u="none" strike="noStrike" cap="none">
                <a:solidFill>
                  <a:srgbClr val="000000"/>
                </a:solidFill>
                <a:latin typeface="Arial"/>
                <a:ea typeface="Arial"/>
                <a:cs typeface="Arial"/>
                <a:sym typeface="Arial"/>
              </a:rPr>
            </a:br>
            <a:r>
              <a:rPr lang="en-US" sz="2000" b="0" i="0" u="none" strike="noStrike" cap="none">
                <a:solidFill>
                  <a:srgbClr val="FF0000"/>
                </a:solidFill>
                <a:latin typeface="Arial"/>
                <a:ea typeface="Arial"/>
                <a:cs typeface="Arial"/>
                <a:sym typeface="Arial"/>
              </a:rPr>
              <a:t>Font Style: Arial</a:t>
            </a:r>
            <a:br>
              <a:rPr lang="en-US" sz="2000" b="0" i="0" u="none" strike="noStrike" cap="none">
                <a:solidFill>
                  <a:srgbClr val="FF0000"/>
                </a:solidFill>
                <a:latin typeface="Arial"/>
                <a:ea typeface="Arial"/>
                <a:cs typeface="Arial"/>
                <a:sym typeface="Arial"/>
              </a:rPr>
            </a:br>
            <a:r>
              <a:rPr lang="en-US" sz="2000" b="0" i="0" u="none" strike="noStrike" cap="none">
                <a:solidFill>
                  <a:srgbClr val="FF0000"/>
                </a:solidFill>
                <a:latin typeface="Arial"/>
                <a:ea typeface="Arial"/>
                <a:cs typeface="Arial"/>
                <a:sym typeface="Arial"/>
              </a:rPr>
              <a:t>Font Size (Heading): 28</a:t>
            </a:r>
            <a:endParaRPr/>
          </a:p>
          <a:p>
            <a:pPr marL="0" marR="0" lvl="0" indent="0" algn="l" rtl="0">
              <a:lnSpc>
                <a:spcPct val="100000"/>
              </a:lnSpc>
              <a:spcBef>
                <a:spcPts val="0"/>
              </a:spcBef>
              <a:spcAft>
                <a:spcPts val="0"/>
              </a:spcAft>
              <a:buNone/>
            </a:pPr>
            <a:r>
              <a:rPr lang="en-US" sz="2000" b="0" i="0" u="none" strike="noStrike" cap="none">
                <a:solidFill>
                  <a:srgbClr val="FF0000"/>
                </a:solidFill>
                <a:latin typeface="Arial"/>
                <a:ea typeface="Arial"/>
                <a:cs typeface="Arial"/>
                <a:sym typeface="Arial"/>
              </a:rPr>
              <a:t>Font Size (Content): 20</a:t>
            </a:r>
            <a:endParaRPr/>
          </a:p>
        </p:txBody>
      </p:sp>
      <p:pic>
        <p:nvPicPr>
          <p:cNvPr id="3" name="Picture 2">
            <a:extLst>
              <a:ext uri="{FF2B5EF4-FFF2-40B4-BE49-F238E27FC236}">
                <a16:creationId xmlns:a16="http://schemas.microsoft.com/office/drawing/2014/main" id="{724174ED-E623-614B-D4D2-3E5CA930EDED}"/>
              </a:ext>
            </a:extLst>
          </p:cNvPr>
          <p:cNvPicPr>
            <a:picLocks noChangeAspect="1"/>
          </p:cNvPicPr>
          <p:nvPr/>
        </p:nvPicPr>
        <p:blipFill>
          <a:blip r:embed="rId3"/>
          <a:stretch>
            <a:fillRect/>
          </a:stretch>
        </p:blipFill>
        <p:spPr>
          <a:xfrm>
            <a:off x="4146407" y="3683877"/>
            <a:ext cx="812454" cy="9972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60818"/>
            <a:ext cx="10607040" cy="4832052"/>
          </a:xfrm>
          <a:prstGeom prst="rect">
            <a:avLst/>
          </a:prstGeom>
          <a:noFill/>
          <a:ln>
            <a:noFill/>
          </a:ln>
        </p:spPr>
        <p:txBody>
          <a:bodyPr spcFirstLastPara="1" wrap="square" lIns="91425" tIns="45700" rIns="91425" bIns="45700" anchor="t" anchorCtr="0">
            <a:spAutoFit/>
          </a:bodyPr>
          <a:lstStyle/>
          <a:p>
            <a:pPr lvl="0"/>
            <a:r>
              <a:rPr lang="en-US" sz="1400" b="1" i="0" u="none" strike="noStrike" cap="none" dirty="0">
                <a:solidFill>
                  <a:srgbClr val="000000"/>
                </a:solidFill>
                <a:latin typeface="Arial"/>
                <a:ea typeface="Arial"/>
                <a:cs typeface="Arial"/>
                <a:sym typeface="Arial"/>
              </a:rPr>
              <a:t>Problem Statement : </a:t>
            </a:r>
            <a:r>
              <a:rPr lang="en-US" b="1" dirty="0">
                <a:solidFill>
                  <a:schemeClr val="tx1"/>
                </a:solidFill>
                <a:ea typeface="Times New Roman"/>
                <a:cs typeface="Times New Roman"/>
                <a:sym typeface="Times New Roman"/>
              </a:rPr>
              <a:t>AI-Powered LaTeX Diagram Generator for Academic Research</a:t>
            </a:r>
          </a:p>
          <a:p>
            <a:pPr lvl="0"/>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Challenge</a:t>
            </a:r>
            <a:r>
              <a:rPr lang="en-US" sz="1400" b="0" i="0" u="none" strike="noStrike" cap="none" dirty="0">
                <a:solidFill>
                  <a:srgbClr val="000000"/>
                </a:solidFill>
                <a:latin typeface="Arial"/>
                <a:ea typeface="Arial"/>
                <a:cs typeface="Arial"/>
                <a:sym typeface="Arial"/>
              </a:rPr>
              <a:t> </a:t>
            </a:r>
            <a:endParaRPr dirty="0"/>
          </a:p>
          <a:p>
            <a:pPr algn="just"/>
            <a:r>
              <a:rPr lang="en-IN" dirty="0"/>
              <a:t>An intelligent agent that automatically converts natural language descriptions and sketches into professional </a:t>
            </a:r>
            <a:r>
              <a:rPr lang="en-IN" dirty="0" err="1"/>
              <a:t>TikZ</a:t>
            </a:r>
            <a:r>
              <a:rPr lang="en-IN" dirty="0"/>
              <a:t> code for LaTeX documents. It provides real-time feedback, accepts plain- English refinement commands, and delivers publication-ready diagrams while eliminating manual coding complexity for researchers.</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Objective</a:t>
            </a:r>
            <a:r>
              <a:rPr lang="en-US" sz="1400" b="0" i="0" u="none" strike="noStrike" cap="none" dirty="0">
                <a:solidFill>
                  <a:srgbClr val="000000"/>
                </a:solidFill>
                <a:latin typeface="Arial"/>
                <a:ea typeface="Arial"/>
                <a:cs typeface="Arial"/>
                <a:sym typeface="Arial"/>
              </a:rPr>
              <a:t> </a:t>
            </a:r>
            <a:endParaRPr dirty="0"/>
          </a:p>
          <a:p>
            <a:r>
              <a:rPr lang="en-US" dirty="0"/>
              <a:t>Build an AI-powered LaTeX Diagram Generator that turns plain-English descriptions and hand-drawn sketches into ready-to-use </a:t>
            </a:r>
            <a:r>
              <a:rPr lang="en-US" dirty="0" err="1"/>
              <a:t>TikZ</a:t>
            </a:r>
            <a:r>
              <a:rPr lang="en-US" dirty="0"/>
              <a:t> code. It should be able to:</a:t>
            </a:r>
          </a:p>
          <a:p>
            <a:pPr marL="285750" indent="-285750">
              <a:buFont typeface="Arial" panose="020B0604020202020204" pitchFamily="34" charset="0"/>
              <a:buChar char="•"/>
            </a:pPr>
            <a:r>
              <a:rPr lang="en-US" b="1" dirty="0"/>
              <a:t>Understand plain English</a:t>
            </a:r>
            <a:r>
              <a:rPr lang="en-US" dirty="0"/>
              <a:t> – Describe a diagram in your own words and get back complete, working </a:t>
            </a:r>
            <a:r>
              <a:rPr lang="en-US" dirty="0" err="1"/>
              <a:t>TikZ</a:t>
            </a:r>
            <a:r>
              <a:rPr lang="en-US" dirty="0"/>
              <a:t>/LaTeX code.</a:t>
            </a:r>
          </a:p>
          <a:p>
            <a:pPr marL="285750" indent="-285750">
              <a:buFont typeface="Arial" panose="020B0604020202020204" pitchFamily="34" charset="0"/>
              <a:buChar char="•"/>
            </a:pPr>
            <a:r>
              <a:rPr lang="en-US" b="1" dirty="0"/>
              <a:t>Read sketches</a:t>
            </a:r>
            <a:r>
              <a:rPr lang="en-US" dirty="0"/>
              <a:t> – Upload a hand-drawn diagram and have it turned into an accurate </a:t>
            </a:r>
            <a:r>
              <a:rPr lang="en-US" dirty="0" err="1"/>
              <a:t>TikZ</a:t>
            </a:r>
            <a:r>
              <a:rPr lang="en-US" dirty="0"/>
              <a:t> version.</a:t>
            </a:r>
          </a:p>
          <a:p>
            <a:pPr marL="285750" indent="-285750">
              <a:buFont typeface="Arial" panose="020B0604020202020204" pitchFamily="34" charset="0"/>
              <a:buChar char="•"/>
            </a:pPr>
            <a:r>
              <a:rPr lang="en-US" b="1" dirty="0"/>
              <a:t>Take feedback and refine</a:t>
            </a:r>
            <a:r>
              <a:rPr lang="en-US" dirty="0"/>
              <a:t> – Ask for changes like "curve the arrows" or "add more spacing" and see them applied, no manual editing needed.</a:t>
            </a:r>
          </a:p>
          <a:p>
            <a:pPr marL="285750" indent="-285750">
              <a:buFont typeface="Arial" panose="020B0604020202020204" pitchFamily="34" charset="0"/>
              <a:buChar char="•"/>
            </a:pPr>
            <a:r>
              <a:rPr lang="en-US" b="1" dirty="0"/>
              <a:t>Catch and fix errors</a:t>
            </a:r>
            <a:r>
              <a:rPr lang="en-US" dirty="0"/>
              <a:t> – If the code doesn't compile, it figures out what went wrong and fixes it on its own.</a:t>
            </a:r>
          </a:p>
          <a:p>
            <a:pPr marL="285750" indent="-285750">
              <a:buFont typeface="Arial" panose="020B0604020202020204" pitchFamily="34" charset="0"/>
              <a:buChar char="•"/>
            </a:pPr>
            <a:r>
              <a:rPr lang="en-US" b="1" dirty="0"/>
              <a:t>Show a live preview</a:t>
            </a:r>
            <a:r>
              <a:rPr lang="en-US" dirty="0"/>
              <a:t> – See the diagram render as a PDF/PNG in real time while you're working on it.</a:t>
            </a:r>
          </a:p>
          <a:p>
            <a:pPr marL="285750" indent="-285750">
              <a:buFont typeface="Arial" panose="020B0604020202020204" pitchFamily="34" charset="0"/>
              <a:buChar char="•"/>
            </a:pPr>
            <a:r>
              <a:rPr lang="en-US" b="1" dirty="0"/>
              <a:t>Handle different diagram types</a:t>
            </a:r>
            <a:r>
              <a:rPr lang="en-US" dirty="0"/>
              <a:t> – Neural networks, flowcharts, circuits, Venn diagrams, state and block diagrams, and more.</a:t>
            </a:r>
          </a:p>
          <a:p>
            <a:pPr marL="285750" indent="-285750">
              <a:buFont typeface="Arial" panose="020B0604020202020204" pitchFamily="34" charset="0"/>
              <a:buChar char="•"/>
            </a:pPr>
            <a:r>
              <a:rPr lang="en-US" b="1" dirty="0"/>
              <a:t>Suggest improvements</a:t>
            </a:r>
            <a:r>
              <a:rPr lang="en-US" dirty="0"/>
              <a:t> – Get tips on layout and readability to make diagrams look publication-ready.</a:t>
            </a:r>
          </a:p>
          <a:p>
            <a:pPr marL="285750" indent="-285750">
              <a:buFont typeface="Arial" panose="020B0604020202020204" pitchFamily="34" charset="0"/>
              <a:buChar char="•"/>
            </a:pPr>
            <a:r>
              <a:rPr lang="en-US" b="1" dirty="0"/>
              <a:t>Keep track of versions</a:t>
            </a:r>
            <a:r>
              <a:rPr lang="en-US" dirty="0"/>
              <a:t> – Go back to an earlier version of a diagram if needed, or compare changes over time.</a:t>
            </a:r>
          </a:p>
          <a:p>
            <a:pPr marL="285750" indent="-285750">
              <a:buFont typeface="Arial" panose="020B0604020202020204" pitchFamily="34" charset="0"/>
              <a:buChar char="•"/>
            </a:pPr>
            <a:r>
              <a:rPr lang="en-US" b="1" dirty="0"/>
              <a:t>Export in the format you need</a:t>
            </a:r>
            <a:r>
              <a:rPr lang="en-US" dirty="0"/>
              <a:t> – Download as .</a:t>
            </a:r>
            <a:r>
              <a:rPr lang="en-US" dirty="0" err="1"/>
              <a:t>tex</a:t>
            </a:r>
            <a:r>
              <a:rPr lang="en-US" dirty="0"/>
              <a:t>, .pdf, or .</a:t>
            </a:r>
            <a:r>
              <a:rPr lang="en-US" dirty="0" err="1"/>
              <a:t>png</a:t>
            </a:r>
            <a:r>
              <a:rPr lang="en-US" dirty="0"/>
              <a:t>/.</a:t>
            </a:r>
            <a:r>
              <a:rPr lang="en-US" dirty="0" err="1"/>
              <a:t>svg</a:t>
            </a:r>
            <a:r>
              <a:rPr lang="en-US" dirty="0"/>
              <a:t>, ready to drop into a paper.</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Problem Statement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349960" y="1183337"/>
            <a:ext cx="11194340" cy="5755381"/>
          </a:xfrm>
          <a:prstGeom prst="rect">
            <a:avLst/>
          </a:prstGeom>
          <a:noFill/>
          <a:ln>
            <a:noFill/>
          </a:ln>
        </p:spPr>
        <p:txBody>
          <a:bodyPr spcFirstLastPara="1" wrap="square" lIns="91425" tIns="45700" rIns="91425" bIns="45700" anchor="t" anchorCtr="0">
            <a:spAutoFit/>
          </a:bodyPr>
          <a:lstStyle/>
          <a:p>
            <a:pPr algn="just"/>
            <a:r>
              <a:rPr lang="en-US" sz="1600" b="1" dirty="0"/>
              <a:t>Proposed Solution: AI-Powered LaTeX Diagram Generator</a:t>
            </a:r>
            <a:endParaRPr lang="en-US" sz="1600" dirty="0"/>
          </a:p>
          <a:p>
            <a:pPr algn="just"/>
            <a:r>
              <a:rPr lang="en-US" sz="1600" dirty="0"/>
              <a:t>The proposed solution is an AI-powered diagram generation agent built using Flask, IBM watsonx.ai, and Granite Models to convert natural language descriptions and hand-drawn sketches into publication-ready </a:t>
            </a:r>
            <a:r>
              <a:rPr lang="en-US" sz="1600" dirty="0" err="1"/>
              <a:t>TikZ</a:t>
            </a:r>
            <a:r>
              <a:rPr lang="en-US" sz="1600" dirty="0"/>
              <a:t>/LaTeX code. The system addresses the steep learning curve and time cost of manually writing </a:t>
            </a:r>
            <a:r>
              <a:rPr lang="en-US" sz="1600" dirty="0" err="1"/>
              <a:t>TikZ</a:t>
            </a:r>
            <a:r>
              <a:rPr lang="en-US" sz="1600" dirty="0"/>
              <a:t> by automating the entire process — from idea to compiled diagram — through an intelligent, modular pipeline.</a:t>
            </a:r>
          </a:p>
          <a:p>
            <a:pPr algn="just"/>
            <a:r>
              <a:rPr lang="en-US" sz="1600" dirty="0"/>
              <a:t>At its core, the solution uses a prompt-engineered generation layer powered by Granite models to interpret user requests and produce syntactically correct, complete </a:t>
            </a:r>
            <a:r>
              <a:rPr lang="en-US" sz="1600" dirty="0" err="1"/>
              <a:t>TikZ</a:t>
            </a:r>
            <a:r>
              <a:rPr lang="en-US" sz="1600" dirty="0"/>
              <a:t> code. A diagram-type detection module automatically classifies the request (neural network, flowchart, circuit, Venn diagram, state machine, etc.) and applies the appropriate styling conventions before generating code, ensuring diagrams follow academic formatting standards.</a:t>
            </a:r>
          </a:p>
          <a:p>
            <a:pPr algn="just"/>
            <a:endParaRPr lang="en-US" sz="1600" dirty="0"/>
          </a:p>
          <a:p>
            <a:pPr algn="just"/>
            <a:r>
              <a:rPr lang="en-US" sz="1600" dirty="0"/>
              <a:t>The system is organized around four core capabilities:</a:t>
            </a:r>
          </a:p>
          <a:p>
            <a:pPr algn="just"/>
            <a:endParaRPr lang="en-US" sz="1600" dirty="0"/>
          </a:p>
          <a:p>
            <a:pPr algn="just"/>
            <a:r>
              <a:rPr lang="en-US" sz="1600" b="1" dirty="0"/>
              <a:t>Generation Engine</a:t>
            </a:r>
            <a:r>
              <a:rPr lang="en-US" sz="1600" dirty="0"/>
              <a:t> interprets natural language prompts and produces complete, </a:t>
            </a:r>
            <a:r>
              <a:rPr lang="en-US" sz="1600" dirty="0" err="1"/>
              <a:t>compilable</a:t>
            </a:r>
            <a:r>
              <a:rPr lang="en-US" sz="1600" dirty="0"/>
              <a:t> </a:t>
            </a:r>
            <a:r>
              <a:rPr lang="en-US" sz="1600" dirty="0" err="1"/>
              <a:t>TikZ</a:t>
            </a:r>
            <a:r>
              <a:rPr lang="en-US" sz="1600" dirty="0"/>
              <a:t>/LaTeX code, applying diagram-specific templates and styling rules.</a:t>
            </a:r>
          </a:p>
          <a:p>
            <a:pPr algn="just"/>
            <a:r>
              <a:rPr lang="en-US" sz="1600" b="1" dirty="0"/>
              <a:t>Refinement Engine</a:t>
            </a:r>
            <a:r>
              <a:rPr lang="en-US" sz="1600" dirty="0"/>
              <a:t> accepts follow-up plain-English instructions (e.g., "curve the arrows," "add color coding") and applies targeted edits to the existing diagram without requiring the user to touch code.</a:t>
            </a:r>
          </a:p>
          <a:p>
            <a:pPr algn="just"/>
            <a:r>
              <a:rPr lang="en-US" sz="1600" b="1" dirty="0"/>
              <a:t>Compilation &amp; Auto-Fix Engine</a:t>
            </a:r>
            <a:r>
              <a:rPr lang="en-US" sz="1600" dirty="0"/>
              <a:t> compiles the generated code using Tectonic/</a:t>
            </a:r>
            <a:r>
              <a:rPr lang="en-US" sz="1600" dirty="0" err="1"/>
              <a:t>TeX</a:t>
            </a:r>
            <a:r>
              <a:rPr lang="en-US" sz="1600" dirty="0"/>
              <a:t> Live, validates it against LaTeX syntax rules, and automatically detects and corrects compilation errors, retrying until a working diagram is produced.</a:t>
            </a:r>
          </a:p>
          <a:p>
            <a:pPr algn="just"/>
            <a:r>
              <a:rPr lang="en-US" sz="1600" b="1" dirty="0"/>
              <a:t>Sketch Interpretation Engine</a:t>
            </a:r>
            <a:r>
              <a:rPr lang="en-US" sz="1600" dirty="0"/>
              <a:t> processes uploaded hand-drawn diagrams, extracts their structural intent, and reproduces them as clean </a:t>
            </a:r>
            <a:r>
              <a:rPr lang="en-US" sz="1600" dirty="0" err="1"/>
              <a:t>TikZ</a:t>
            </a:r>
            <a:r>
              <a:rPr lang="en-US" sz="1600" dirty="0"/>
              <a:t> code.</a:t>
            </a:r>
          </a:p>
          <a:p>
            <a:pPr algn="just"/>
            <a:endParaRPr lang="en-US" sz="1600" dirty="0"/>
          </a:p>
          <a:p>
            <a:pPr marL="0" marR="0" lvl="0" indent="0" algn="just"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349960" y="484281"/>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Proposed Solution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1;p35">
            <a:extLst>
              <a:ext uri="{FF2B5EF4-FFF2-40B4-BE49-F238E27FC236}">
                <a16:creationId xmlns:a16="http://schemas.microsoft.com/office/drawing/2014/main" id="{93953A04-FFF6-B5F0-421D-2B3C34A711D8}"/>
              </a:ext>
            </a:extLst>
          </p:cNvPr>
          <p:cNvSpPr txBox="1"/>
          <p:nvPr/>
        </p:nvSpPr>
        <p:spPr>
          <a:xfrm>
            <a:off x="498830" y="1640537"/>
            <a:ext cx="11194340" cy="3293169"/>
          </a:xfrm>
          <a:prstGeom prst="rect">
            <a:avLst/>
          </a:prstGeom>
          <a:noFill/>
          <a:ln>
            <a:noFill/>
          </a:ln>
        </p:spPr>
        <p:txBody>
          <a:bodyPr spcFirstLastPara="1" wrap="square" lIns="91425" tIns="45700" rIns="91425" bIns="45700" anchor="t" anchorCtr="0">
            <a:spAutoFit/>
          </a:bodyPr>
          <a:lstStyle/>
          <a:p>
            <a:pPr algn="just"/>
            <a:endParaRPr lang="en-US" sz="1600" dirty="0"/>
          </a:p>
          <a:p>
            <a:pPr algn="just"/>
            <a:r>
              <a:rPr lang="en-US" sz="1600" dirty="0"/>
              <a:t>The solution includes a browser-based interface with a split-pane layout — a chat panel for describing and refining diagrams alongside a live preview pane showing the compiled PDF/PNG in real time. Users can browse version history to compare or revert to earlier iterations, and export finished diagrams as .</a:t>
            </a:r>
            <a:r>
              <a:rPr lang="en-US" sz="1600" dirty="0" err="1"/>
              <a:t>tex</a:t>
            </a:r>
            <a:r>
              <a:rPr lang="en-US" sz="1600" dirty="0"/>
              <a:t>, .pdf, or .</a:t>
            </a:r>
            <a:r>
              <a:rPr lang="en-US" sz="1600" dirty="0" err="1"/>
              <a:t>png</a:t>
            </a:r>
            <a:r>
              <a:rPr lang="en-US" sz="1600" dirty="0"/>
              <a:t>/.</a:t>
            </a:r>
            <a:r>
              <a:rPr lang="en-US" sz="1600" dirty="0" err="1"/>
              <a:t>svg</a:t>
            </a:r>
            <a:r>
              <a:rPr lang="en-US" sz="1600" dirty="0"/>
              <a:t> files ready for direct use in academic papers.</a:t>
            </a:r>
          </a:p>
          <a:p>
            <a:pPr algn="just"/>
            <a:r>
              <a:rPr lang="en-US" sz="1600" dirty="0"/>
              <a:t>Flask orchestrates the request pipeline between the frontend, the compilation service, and the AI layer, while watsonx.ai handles scalable model access and governance for the Granite models. Granite models power the core reasoning tasks — parsing descriptions, generating </a:t>
            </a:r>
            <a:r>
              <a:rPr lang="en-US" sz="1600" dirty="0" err="1"/>
              <a:t>TikZ</a:t>
            </a:r>
            <a:r>
              <a:rPr lang="en-US" sz="1600" dirty="0"/>
              <a:t> syntax, diagnosing compilation errors, and suggesting layout optimizations for publication quality.</a:t>
            </a:r>
          </a:p>
          <a:p>
            <a:pPr algn="just"/>
            <a:r>
              <a:rPr lang="en-US" sz="1600" dirty="0"/>
              <a:t>Overall, this solution delivers an end-to-end intelligent diagramming assistant that removes the technical barrier of </a:t>
            </a:r>
            <a:r>
              <a:rPr lang="en-US" sz="1600" dirty="0" err="1"/>
              <a:t>TikZ</a:t>
            </a:r>
            <a:r>
              <a:rPr lang="en-US" sz="1600" dirty="0"/>
              <a:t>, letting researchers focus on their ideas while the system handles code generation, error correction, and formatting.</a:t>
            </a:r>
          </a:p>
          <a:p>
            <a:pPr marL="0" marR="0" lvl="0" indent="0" algn="just"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874431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777240" y="1207008"/>
            <a:ext cx="10515600" cy="5509160"/>
          </a:xfrm>
          <a:prstGeom prst="rect">
            <a:avLst/>
          </a:prstGeom>
          <a:noFill/>
          <a:ln>
            <a:noFill/>
          </a:ln>
        </p:spPr>
        <p:txBody>
          <a:bodyPr spcFirstLastPara="1" wrap="square" lIns="91425" tIns="45700" rIns="91425" bIns="45700" anchor="t" anchorCtr="0">
            <a:spAutoFit/>
          </a:bodyPr>
          <a:lstStyle/>
          <a:p>
            <a:pPr marL="285750" indent="-285750">
              <a:buFont typeface="Arial" panose="020B0604020202020204" pitchFamily="34" charset="0"/>
              <a:buChar char="•"/>
            </a:pPr>
            <a:r>
              <a:rPr lang="en-IN" sz="1800" b="1" dirty="0"/>
              <a:t>Python Flask</a:t>
            </a:r>
            <a:r>
              <a:rPr lang="en-IN" sz="1800" dirty="0"/>
              <a:t> – For building the backend web application, handling API routes, session management, and orchestrating requests between the frontend, AI layer, and LaTeX compilation service.</a:t>
            </a:r>
          </a:p>
          <a:p>
            <a:pPr marL="285750" indent="-285750">
              <a:buFont typeface="Arial" panose="020B0604020202020204" pitchFamily="34" charset="0"/>
              <a:buChar char="•"/>
            </a:pPr>
            <a:r>
              <a:rPr lang="en-IN" sz="1800" b="1" dirty="0"/>
              <a:t>IBM Granite Model</a:t>
            </a:r>
            <a:r>
              <a:rPr lang="en-IN" sz="1800" dirty="0"/>
              <a:t> – for e.g. </a:t>
            </a:r>
            <a:r>
              <a:rPr lang="en-IN" sz="1800" dirty="0" err="1"/>
              <a:t>ibm</a:t>
            </a:r>
            <a:r>
              <a:rPr lang="en-IN" sz="1800" dirty="0"/>
              <a:t>/granite-13b-instruct-v2 – For natural language understanding, </a:t>
            </a:r>
            <a:r>
              <a:rPr lang="en-IN" sz="1800" dirty="0" err="1"/>
              <a:t>TikZ</a:t>
            </a:r>
            <a:r>
              <a:rPr lang="en-IN" sz="1800" dirty="0"/>
              <a:t> code generation, error diagnosis, and refinement of diagrams based on user instructions.</a:t>
            </a:r>
          </a:p>
          <a:p>
            <a:pPr marL="285750" indent="-285750">
              <a:buFont typeface="Arial" panose="020B0604020202020204" pitchFamily="34" charset="0"/>
              <a:buChar char="•"/>
            </a:pPr>
            <a:r>
              <a:rPr lang="en-IN" sz="1800" b="1" dirty="0"/>
              <a:t>IBM Cloud</a:t>
            </a:r>
            <a:r>
              <a:rPr lang="en-IN" sz="1800" dirty="0"/>
              <a:t> – Provides the infrastructure to build, deploy, and scale the Diagram Generator efficiently. IBM Cloud enables a reliable, secure, and scalable environment for hosting the application and running Granite model inference.</a:t>
            </a:r>
          </a:p>
          <a:p>
            <a:pPr marL="285750" indent="-285750">
              <a:buFont typeface="Arial" panose="020B0604020202020204" pitchFamily="34" charset="0"/>
              <a:buChar char="•"/>
            </a:pPr>
            <a:r>
              <a:rPr lang="en-IN" sz="1800" b="1" dirty="0"/>
              <a:t>IBM Watson Studio</a:t>
            </a:r>
            <a:r>
              <a:rPr lang="en-IN" sz="1800" dirty="0"/>
              <a:t> – For managing the AI project workspace, model experimentation, and connecting the Granite model deployment to the application.</a:t>
            </a:r>
          </a:p>
          <a:p>
            <a:pPr marL="285750" indent="-285750">
              <a:buFont typeface="Arial" panose="020B0604020202020204" pitchFamily="34" charset="0"/>
              <a:buChar char="•"/>
            </a:pPr>
            <a:r>
              <a:rPr lang="en-IN" sz="1800" b="1" dirty="0"/>
              <a:t>Tectonic / </a:t>
            </a:r>
            <a:r>
              <a:rPr lang="en-IN" sz="1800" b="1" dirty="0" err="1"/>
              <a:t>TeX</a:t>
            </a:r>
            <a:r>
              <a:rPr lang="en-IN" sz="1800" b="1" dirty="0"/>
              <a:t> Live</a:t>
            </a:r>
            <a:r>
              <a:rPr lang="en-IN" sz="1800" dirty="0"/>
              <a:t> – For compiling generated </a:t>
            </a:r>
            <a:r>
              <a:rPr lang="en-IN" sz="1800" dirty="0" err="1"/>
              <a:t>TikZ</a:t>
            </a:r>
            <a:r>
              <a:rPr lang="en-IN" sz="1800" dirty="0"/>
              <a:t>/LaTeX code into PDF output, running in a sandboxed environment to safely handle and render diagram code.</a:t>
            </a:r>
          </a:p>
          <a:p>
            <a:pPr marL="285750" indent="-285750">
              <a:buFont typeface="Arial" panose="020B0604020202020204" pitchFamily="34" charset="0"/>
              <a:buChar char="•"/>
            </a:pPr>
            <a:r>
              <a:rPr lang="en-IN" sz="1800" b="1" dirty="0" err="1"/>
              <a:t>pdftoppm</a:t>
            </a:r>
            <a:r>
              <a:rPr lang="en-IN" sz="1800" b="1" dirty="0"/>
              <a:t> / </a:t>
            </a:r>
            <a:r>
              <a:rPr lang="en-IN" sz="1800" b="1" dirty="0" err="1"/>
              <a:t>dvisvgm</a:t>
            </a:r>
            <a:r>
              <a:rPr lang="en-IN" sz="1800" dirty="0"/>
              <a:t> – For converting compiled PDF diagrams into PNG/SVG formats for live browser preview and export.</a:t>
            </a:r>
          </a:p>
          <a:p>
            <a:pPr marL="285750" indent="-285750">
              <a:buFont typeface="Arial" panose="020B0604020202020204" pitchFamily="34" charset="0"/>
              <a:buChar char="•"/>
            </a:pPr>
            <a:r>
              <a:rPr lang="en-IN" sz="1800" b="1" dirty="0"/>
              <a:t>HTML, CSS, JavaScript (Bootstrap)</a:t>
            </a:r>
            <a:r>
              <a:rPr lang="en-IN" sz="1800" dirty="0"/>
              <a:t> – For building the responsive, chat-based frontend interface with a live code editor, split-pane preview, and version history panel.</a:t>
            </a: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Arial"/>
                <a:ea typeface="Arial"/>
                <a:cs typeface="Arial"/>
                <a:sym typeface="Arial"/>
              </a:rPr>
              <a:t>IBM component Used -</a:t>
            </a:r>
            <a:endParaRPr sz="24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1" y="863187"/>
            <a:ext cx="11394793" cy="741737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endParaRPr lang="en-IN" sz="2000" b="0" i="0" u="none" strike="noStrike" cap="none" dirty="0">
              <a:solidFill>
                <a:srgbClr val="000000"/>
              </a:solidFill>
              <a:latin typeface="Arial"/>
              <a:ea typeface="Arial"/>
              <a:cs typeface="Arial"/>
              <a:sym typeface="Arial"/>
            </a:endParaRPr>
          </a:p>
          <a:p>
            <a:pPr lvl="0" algn="just"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Chat Input</a:t>
            </a:r>
            <a:r>
              <a:rPr lang="en-US" altLang="en-US" sz="2000" dirty="0">
                <a:solidFill>
                  <a:schemeClr val="tx1"/>
                </a:solidFill>
                <a:latin typeface="Arial" panose="020B0604020202020204" pitchFamily="34" charset="0"/>
              </a:rPr>
              <a:t> – Interface where users enter diagram descriptions, refinement instructions, or upload hand-drawn sketches. </a:t>
            </a:r>
          </a:p>
          <a:p>
            <a:pPr lvl="0" algn="just" eaLnBrk="0" fontAlgn="base" hangingPunct="0">
              <a:spcBef>
                <a:spcPct val="0"/>
              </a:spcBef>
              <a:spcAft>
                <a:spcPct val="0"/>
              </a:spcAft>
              <a:buClrTx/>
            </a:pPr>
            <a:endParaRPr lang="en-US" altLang="en-US" sz="2000" dirty="0">
              <a:solidFill>
                <a:schemeClr val="tx1"/>
              </a:solidFill>
              <a:latin typeface="Arial" panose="020B0604020202020204" pitchFamily="34" charset="0"/>
            </a:endParaRPr>
          </a:p>
          <a:p>
            <a:pPr lvl="0" algn="just"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IBM Watsonx.ai Agent</a:t>
            </a:r>
            <a:r>
              <a:rPr lang="en-US" altLang="en-US" sz="2000" dirty="0">
                <a:solidFill>
                  <a:schemeClr val="tx1"/>
                </a:solidFill>
                <a:latin typeface="Arial" panose="020B0604020202020204" pitchFamily="34" charset="0"/>
              </a:rPr>
              <a:t> – Processes user input using Granite models to generate, refine, and debug </a:t>
            </a:r>
            <a:r>
              <a:rPr lang="en-US" altLang="en-US" sz="2000" dirty="0" err="1">
                <a:solidFill>
                  <a:schemeClr val="tx1"/>
                </a:solidFill>
                <a:latin typeface="Arial" panose="020B0604020202020204" pitchFamily="34" charset="0"/>
              </a:rPr>
              <a:t>TikZ</a:t>
            </a:r>
            <a:r>
              <a:rPr lang="en-US" altLang="en-US" sz="2000" dirty="0">
                <a:solidFill>
                  <a:schemeClr val="tx1"/>
                </a:solidFill>
                <a:latin typeface="Arial" panose="020B0604020202020204" pitchFamily="34" charset="0"/>
              </a:rPr>
              <a:t>/LaTeX diagram code. </a:t>
            </a:r>
          </a:p>
          <a:p>
            <a:pPr lvl="0" algn="just" eaLnBrk="0" fontAlgn="base" hangingPunct="0">
              <a:spcBef>
                <a:spcPct val="0"/>
              </a:spcBef>
              <a:spcAft>
                <a:spcPct val="0"/>
              </a:spcAft>
              <a:buClrTx/>
            </a:pPr>
            <a:endParaRPr lang="en-US" altLang="en-US" sz="2000" dirty="0">
              <a:solidFill>
                <a:schemeClr val="tx1"/>
              </a:solidFill>
              <a:latin typeface="Arial" panose="020B0604020202020204" pitchFamily="34" charset="0"/>
            </a:endParaRPr>
          </a:p>
          <a:p>
            <a:pPr algn="just"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Name of IBM Granite </a:t>
            </a:r>
            <a:r>
              <a:rPr lang="en-US" altLang="en-US" sz="2000" b="1">
                <a:solidFill>
                  <a:schemeClr val="tx1"/>
                </a:solidFill>
                <a:latin typeface="Arial" panose="020B0604020202020204" pitchFamily="34" charset="0"/>
              </a:rPr>
              <a:t>Model</a:t>
            </a:r>
            <a:r>
              <a:rPr lang="en-US" altLang="en-US" sz="2000">
                <a:solidFill>
                  <a:schemeClr val="tx1"/>
                </a:solidFill>
                <a:latin typeface="Arial" panose="020B0604020202020204" pitchFamily="34" charset="0"/>
              </a:rPr>
              <a:t> - </a:t>
            </a:r>
            <a:r>
              <a:rPr lang="en-IN" sz="2000"/>
              <a:t>granite-8b-code-instruct</a:t>
            </a:r>
            <a:r>
              <a:rPr lang="en-US" altLang="en-US" sz="2000" dirty="0">
                <a:solidFill>
                  <a:schemeClr val="tx1"/>
                </a:solidFill>
                <a:latin typeface="Arial" panose="020B0604020202020204" pitchFamily="34" charset="0"/>
              </a:rPr>
              <a:t>→ Used for natural language understanding, </a:t>
            </a:r>
            <a:r>
              <a:rPr lang="en-US" altLang="en-US" sz="2000" dirty="0" err="1">
                <a:solidFill>
                  <a:schemeClr val="tx1"/>
                </a:solidFill>
                <a:latin typeface="Arial" panose="020B0604020202020204" pitchFamily="34" charset="0"/>
              </a:rPr>
              <a:t>TikZ</a:t>
            </a:r>
            <a:r>
              <a:rPr lang="en-US" altLang="en-US" sz="2000" dirty="0">
                <a:solidFill>
                  <a:schemeClr val="tx1"/>
                </a:solidFill>
                <a:latin typeface="Arial" panose="020B0604020202020204" pitchFamily="34" charset="0"/>
              </a:rPr>
              <a:t> code generation, error correction, and diagram optimization suggestions. </a:t>
            </a:r>
          </a:p>
          <a:p>
            <a:pPr lvl="0" algn="just" eaLnBrk="0" fontAlgn="base" hangingPunct="0">
              <a:spcBef>
                <a:spcPct val="0"/>
              </a:spcBef>
              <a:spcAft>
                <a:spcPct val="0"/>
              </a:spcAft>
              <a:buClrTx/>
            </a:pPr>
            <a:endParaRPr lang="en-US" altLang="en-US" sz="2000" dirty="0">
              <a:solidFill>
                <a:schemeClr val="tx1"/>
              </a:solidFill>
              <a:latin typeface="Arial" panose="020B0604020202020204" pitchFamily="34" charset="0"/>
            </a:endParaRPr>
          </a:p>
          <a:p>
            <a:pPr lvl="0" algn="just"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Chat Output</a:t>
            </a:r>
            <a:r>
              <a:rPr lang="en-US" altLang="en-US" sz="2000" dirty="0">
                <a:solidFill>
                  <a:schemeClr val="tx1"/>
                </a:solidFill>
                <a:latin typeface="Arial" panose="020B0604020202020204" pitchFamily="34" charset="0"/>
              </a:rPr>
              <a:t> – Displays AI-generated responses such as generated </a:t>
            </a:r>
            <a:r>
              <a:rPr lang="en-US" altLang="en-US" sz="2000" dirty="0" err="1">
                <a:solidFill>
                  <a:schemeClr val="tx1"/>
                </a:solidFill>
                <a:latin typeface="Arial" panose="020B0604020202020204" pitchFamily="34" charset="0"/>
              </a:rPr>
              <a:t>TikZ</a:t>
            </a:r>
            <a:r>
              <a:rPr lang="en-US" altLang="en-US" sz="2000" dirty="0">
                <a:solidFill>
                  <a:schemeClr val="tx1"/>
                </a:solidFill>
                <a:latin typeface="Arial" panose="020B0604020202020204" pitchFamily="34" charset="0"/>
              </a:rPr>
              <a:t> code, explanations, error fixes, and optimization suggestions. </a:t>
            </a:r>
          </a:p>
          <a:p>
            <a:pPr lvl="0" algn="just" eaLnBrk="0" fontAlgn="base" hangingPunct="0">
              <a:spcBef>
                <a:spcPct val="0"/>
              </a:spcBef>
              <a:spcAft>
                <a:spcPct val="0"/>
              </a:spcAft>
              <a:buClrTx/>
            </a:pPr>
            <a:endParaRPr lang="en-US" altLang="en-US" sz="2000" dirty="0">
              <a:solidFill>
                <a:schemeClr val="tx1"/>
              </a:solidFill>
              <a:latin typeface="Arial" panose="020B0604020202020204" pitchFamily="34" charset="0"/>
            </a:endParaRPr>
          </a:p>
          <a:p>
            <a:pPr lvl="0" algn="just"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IBM Cloud IAM (Identity &amp; Access Management)</a:t>
            </a:r>
            <a:r>
              <a:rPr lang="en-US" altLang="en-US" sz="2000" dirty="0">
                <a:solidFill>
                  <a:schemeClr val="tx1"/>
                </a:solidFill>
                <a:latin typeface="Arial" panose="020B0604020202020204" pitchFamily="34" charset="0"/>
              </a:rPr>
              <a:t> – Handles secure authentication and API key management for accessing Watsonx.ai services. </a:t>
            </a:r>
          </a:p>
          <a:p>
            <a:pPr marL="342900" marR="0" lvl="0" indent="-254000" algn="just" rtl="0">
              <a:lnSpc>
                <a:spcPct val="100000"/>
              </a:lnSpc>
              <a:spcBef>
                <a:spcPts val="0"/>
              </a:spcBef>
              <a:spcAft>
                <a:spcPts val="0"/>
              </a:spcAft>
              <a:buClr>
                <a:srgbClr val="000000"/>
              </a:buClr>
              <a:buSzPts val="1400"/>
              <a:buFont typeface="Arial"/>
              <a:buNone/>
            </a:pPr>
            <a:endParaRPr lang="en-IN" sz="20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lang="en-IN" sz="20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lang="en-IN" sz="20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lang="en-IN" sz="20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lang="en-IN" sz="20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lang="en-IN" sz="20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lang="en-IN" sz="20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n-IN" sz="2000" b="0" i="0" u="none" strike="noStrike" cap="none" dirty="0">
                <a:solidFill>
                  <a:srgbClr val="000000"/>
                </a:solidFill>
                <a:latin typeface="Arial"/>
                <a:ea typeface="Arial"/>
                <a:cs typeface="Arial"/>
                <a:sym typeface="Arial"/>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t>W</a:t>
            </a:r>
            <a:r>
              <a:rPr lang="en-US" sz="2400" b="1" i="0" u="none" strike="noStrike" cap="none" dirty="0">
                <a:solidFill>
                  <a:srgbClr val="000000"/>
                </a:solidFill>
                <a:latin typeface="Arial"/>
                <a:ea typeface="Arial"/>
                <a:cs typeface="Arial"/>
                <a:sym typeface="Arial"/>
              </a:rPr>
              <a:t>orkflow -</a:t>
            </a:r>
            <a:endParaRPr sz="2400" b="1" i="0" u="none" strike="noStrike" cap="none" dirty="0">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33295A22-2EE3-52C6-8D10-8A1F8AE7711F}"/>
              </a:ext>
            </a:extLst>
          </p:cNvPr>
          <p:cNvPicPr>
            <a:picLocks noChangeAspect="1"/>
          </p:cNvPicPr>
          <p:nvPr/>
        </p:nvPicPr>
        <p:blipFill>
          <a:blip r:embed="rId3"/>
          <a:stretch>
            <a:fillRect/>
          </a:stretch>
        </p:blipFill>
        <p:spPr>
          <a:xfrm>
            <a:off x="3661530" y="0"/>
            <a:ext cx="6187786"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414498" y="2846632"/>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dirty="0">
                <a:solidFill>
                  <a:schemeClr val="dk1"/>
                </a:solidFill>
                <a:latin typeface="Calibri"/>
                <a:ea typeface="Calibri"/>
                <a:cs typeface="Calibri"/>
                <a:sym typeface="Calibri"/>
              </a:rPr>
              <a:t>Architecture blueprint</a:t>
            </a:r>
            <a:endParaRPr sz="2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21CAC71A-C88F-573A-B1B5-5BFBF7A81404}"/>
              </a:ext>
            </a:extLst>
          </p:cNvPr>
          <p:cNvPicPr>
            <a:picLocks noChangeAspect="1"/>
          </p:cNvPicPr>
          <p:nvPr/>
        </p:nvPicPr>
        <p:blipFill>
          <a:blip r:embed="rId3"/>
          <a:stretch>
            <a:fillRect/>
          </a:stretch>
        </p:blipFill>
        <p:spPr>
          <a:xfrm>
            <a:off x="3492054" y="0"/>
            <a:ext cx="7702606"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621792" y="582718"/>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Role of Agentic AI in the solution </a:t>
            </a:r>
            <a:endParaRPr sz="3200" b="1" i="0" u="none" strike="noStrike" cap="none" dirty="0">
              <a:solidFill>
                <a:srgbClr val="000000"/>
              </a:solidFill>
              <a:latin typeface="Arial"/>
              <a:ea typeface="Arial"/>
              <a:cs typeface="Arial"/>
              <a:sym typeface="Arial"/>
            </a:endParaRPr>
          </a:p>
        </p:txBody>
      </p:sp>
      <p:sp>
        <p:nvSpPr>
          <p:cNvPr id="139" name="Google Shape;139;p9"/>
          <p:cNvSpPr txBox="1"/>
          <p:nvPr/>
        </p:nvSpPr>
        <p:spPr>
          <a:xfrm>
            <a:off x="621792" y="1580731"/>
            <a:ext cx="7406640" cy="4247276"/>
          </a:xfrm>
          <a:prstGeom prst="rect">
            <a:avLst/>
          </a:prstGeom>
          <a:noFill/>
          <a:ln>
            <a:noFill/>
          </a:ln>
        </p:spPr>
        <p:txBody>
          <a:bodyPr spcFirstLastPara="1" wrap="square" lIns="91425" tIns="45700" rIns="91425" bIns="45700" anchor="t" anchorCtr="0">
            <a:spAutoFit/>
          </a:bodyPr>
          <a:lstStyle/>
          <a:p>
            <a:pPr algn="just"/>
            <a:r>
              <a:rPr lang="en-US" sz="1800" b="1" dirty="0"/>
              <a:t>Role of Agentic AI in AI-Powered LaTeX Diagram Generator</a:t>
            </a:r>
          </a:p>
          <a:p>
            <a:pPr algn="just"/>
            <a:endParaRPr lang="en-US" sz="1800" dirty="0"/>
          </a:p>
          <a:p>
            <a:pPr algn="just"/>
            <a:r>
              <a:rPr lang="en-US" sz="1800" dirty="0"/>
              <a:t>Agentic AI enables the LaTeX Diagram Generator to function as an intelligent, autonomous assistant rather than a simple code-generation tool. Using IBM watsonx.ai and IBM Granite models, it independently handles the full lifecycle of a diagram — from understanding intent, to generating code, to detecting and fixing its own mistakes — without requiring the user to intervene at each step.</a:t>
            </a:r>
          </a:p>
          <a:p>
            <a:pPr algn="just"/>
            <a:endParaRPr lang="en-US" sz="1800" dirty="0"/>
          </a:p>
          <a:p>
            <a:pPr algn="just"/>
            <a:r>
              <a:rPr lang="en-US" sz="1800" dirty="0"/>
              <a:t>Each part of the system performs a distinct role — interpreting natural language or sketches, generating </a:t>
            </a:r>
            <a:r>
              <a:rPr lang="en-US" sz="1800" dirty="0" err="1"/>
              <a:t>TikZ</a:t>
            </a:r>
            <a:r>
              <a:rPr lang="en-US" sz="1800" dirty="0"/>
              <a:t> code, validating and compiling it, and diagnosing compilation errors — while working together as a single coherent workflow. This task-driven approach ensures that a user's request moves smoothly from description to a working diagram with minimal friction.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9;p9">
            <a:extLst>
              <a:ext uri="{FF2B5EF4-FFF2-40B4-BE49-F238E27FC236}">
                <a16:creationId xmlns:a16="http://schemas.microsoft.com/office/drawing/2014/main" id="{D1C8C9DF-84FE-DB95-219D-EFBCE5A28378}"/>
              </a:ext>
            </a:extLst>
          </p:cNvPr>
          <p:cNvSpPr txBox="1"/>
          <p:nvPr/>
        </p:nvSpPr>
        <p:spPr>
          <a:xfrm>
            <a:off x="502861" y="1720860"/>
            <a:ext cx="11186277" cy="3416279"/>
          </a:xfrm>
          <a:prstGeom prst="rect">
            <a:avLst/>
          </a:prstGeom>
          <a:noFill/>
          <a:ln>
            <a:noFill/>
          </a:ln>
        </p:spPr>
        <p:txBody>
          <a:bodyPr spcFirstLastPara="1" wrap="square" lIns="91425" tIns="45700" rIns="91425" bIns="45700" anchor="t" anchorCtr="0">
            <a:spAutoFit/>
          </a:bodyPr>
          <a:lstStyle/>
          <a:p>
            <a:pPr algn="just"/>
            <a:r>
              <a:rPr lang="en-US" sz="1800" dirty="0"/>
              <a:t>Agentic AI also brings context awareness, understanding diagram type, academic formatting conventions, and prior refinement history to generate output that fits the user's actual need. It supports real-time adaptation, continuously updating the diagram as the user gives plain-English refinement instructions like "curve the arrows" or "increase node spacing."</a:t>
            </a:r>
          </a:p>
          <a:p>
            <a:pPr algn="just"/>
            <a:endParaRPr lang="en-US" sz="1800" dirty="0"/>
          </a:p>
          <a:p>
            <a:pPr algn="just"/>
            <a:endParaRPr lang="en-US" sz="1800" dirty="0"/>
          </a:p>
          <a:p>
            <a:pPr algn="just"/>
            <a:r>
              <a:rPr lang="en-US" sz="1800" dirty="0"/>
              <a:t>Additionally, the system exhibits self-correcting behavior: when generated code fails to compile, it doesn't simply return an error to the user — it automatically analyzes the compiler log, identifies the likely cause, and regenerates corrected code, retrying until a working diagram is produced.</a:t>
            </a:r>
          </a:p>
          <a:p>
            <a:pPr algn="just"/>
            <a:r>
              <a:rPr lang="en-US" sz="1800" dirty="0"/>
              <a:t>Overall, Agentic AI makes the system proactive, adaptive, and goal-driven, acting like a diligent research assistant that turns a rough idea or sketch into a clean, publication-ready diagram — handling the tedious LaTeX debugging so the researcher doesn't have to.</a:t>
            </a:r>
          </a:p>
        </p:txBody>
      </p:sp>
    </p:spTree>
    <p:extLst>
      <p:ext uri="{BB962C8B-B14F-4D97-AF65-F5344CB8AC3E}">
        <p14:creationId xmlns:p14="http://schemas.microsoft.com/office/powerpoint/2010/main" val="1953999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8" name="Google Shape;148;p39"/>
          <p:cNvSpPr txBox="1"/>
          <p:nvPr/>
        </p:nvSpPr>
        <p:spPr>
          <a:xfrm>
            <a:off x="793192" y="1026289"/>
            <a:ext cx="4371171" cy="307777"/>
          </a:xfrm>
          <a:prstGeom prst="rect">
            <a:avLst/>
          </a:prstGeom>
          <a:noFill/>
          <a:ln>
            <a:noFill/>
          </a:ln>
        </p:spPr>
        <p:txBody>
          <a:bodyPr spcFirstLastPara="1" wrap="square" lIns="91425" tIns="45700" rIns="91425" bIns="45700" anchor="t" anchorCtr="0">
            <a:spAutoFit/>
          </a:bodyPr>
          <a:lstStyle/>
          <a:p>
            <a:pPr lvl="0"/>
            <a:r>
              <a:rPr lang="en-IN" dirty="0"/>
              <a:t>14,000+ tokens consumed</a:t>
            </a:r>
            <a:endParaRPr dirty="0"/>
          </a:p>
        </p:txBody>
      </p:sp>
      <p:sp>
        <p:nvSpPr>
          <p:cNvPr id="151" name="Google Shape;151;p39"/>
          <p:cNvSpPr txBox="1"/>
          <p:nvPr/>
        </p:nvSpPr>
        <p:spPr>
          <a:xfrm>
            <a:off x="1278639" y="1718067"/>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a:solidFill>
                  <a:srgbClr val="000000"/>
                </a:solidFill>
                <a:latin typeface="Arial"/>
                <a:ea typeface="Arial"/>
                <a:cs typeface="Arial"/>
                <a:sym typeface="Arial"/>
              </a:rPr>
              <a:t>Before Prompt</a:t>
            </a:r>
            <a:endParaRPr/>
          </a:p>
        </p:txBody>
      </p:sp>
      <p:sp>
        <p:nvSpPr>
          <p:cNvPr id="152" name="Google Shape;152;p39"/>
          <p:cNvSpPr txBox="1"/>
          <p:nvPr/>
        </p:nvSpPr>
        <p:spPr>
          <a:xfrm>
            <a:off x="7106828" y="1722919"/>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a:solidFill>
                  <a:srgbClr val="000000"/>
                </a:solidFill>
                <a:latin typeface="Arial"/>
                <a:ea typeface="Arial"/>
                <a:cs typeface="Arial"/>
                <a:sym typeface="Arial"/>
              </a:rPr>
              <a:t>After the Prompt</a:t>
            </a:r>
            <a:endParaRPr/>
          </a:p>
        </p:txBody>
      </p:sp>
      <p:pic>
        <p:nvPicPr>
          <p:cNvPr id="3" name="Picture 2">
            <a:extLst>
              <a:ext uri="{FF2B5EF4-FFF2-40B4-BE49-F238E27FC236}">
                <a16:creationId xmlns:a16="http://schemas.microsoft.com/office/drawing/2014/main" id="{784645E8-B2C8-86F0-9E27-945A7DD24BB2}"/>
              </a:ext>
            </a:extLst>
          </p:cNvPr>
          <p:cNvPicPr>
            <a:picLocks noChangeAspect="1"/>
          </p:cNvPicPr>
          <p:nvPr/>
        </p:nvPicPr>
        <p:blipFill>
          <a:blip r:embed="rId3"/>
          <a:stretch>
            <a:fillRect/>
          </a:stretch>
        </p:blipFill>
        <p:spPr>
          <a:xfrm>
            <a:off x="391156" y="2356383"/>
            <a:ext cx="5383641" cy="2939730"/>
          </a:xfrm>
          <a:prstGeom prst="rect">
            <a:avLst/>
          </a:prstGeom>
        </p:spPr>
      </p:pic>
      <p:pic>
        <p:nvPicPr>
          <p:cNvPr id="5" name="Picture 4">
            <a:extLst>
              <a:ext uri="{FF2B5EF4-FFF2-40B4-BE49-F238E27FC236}">
                <a16:creationId xmlns:a16="http://schemas.microsoft.com/office/drawing/2014/main" id="{8FD60E4E-6E15-ADD7-A7E6-EBC26FF3C45A}"/>
              </a:ext>
            </a:extLst>
          </p:cNvPr>
          <p:cNvPicPr>
            <a:picLocks noChangeAspect="1"/>
          </p:cNvPicPr>
          <p:nvPr/>
        </p:nvPicPr>
        <p:blipFill>
          <a:blip r:embed="rId4"/>
          <a:stretch>
            <a:fillRect/>
          </a:stretch>
        </p:blipFill>
        <p:spPr>
          <a:xfrm>
            <a:off x="6602365" y="2376131"/>
            <a:ext cx="5261000" cy="210573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629920" y="205727"/>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Novelty and Uniqueness</a:t>
            </a:r>
            <a:endParaRPr sz="2400" b="1" i="0" u="none" strike="noStrike" cap="none" dirty="0">
              <a:solidFill>
                <a:srgbClr val="000000"/>
              </a:solidFill>
              <a:latin typeface="Arial"/>
              <a:ea typeface="Arial"/>
              <a:cs typeface="Arial"/>
              <a:sym typeface="Arial"/>
            </a:endParaRPr>
          </a:p>
        </p:txBody>
      </p:sp>
      <p:sp>
        <p:nvSpPr>
          <p:cNvPr id="4" name="Rectangle 3">
            <a:extLst>
              <a:ext uri="{FF2B5EF4-FFF2-40B4-BE49-F238E27FC236}">
                <a16:creationId xmlns:a16="http://schemas.microsoft.com/office/drawing/2014/main" id="{A9A41517-234E-40C3-EEF4-FE94C055EC39}"/>
              </a:ext>
            </a:extLst>
          </p:cNvPr>
          <p:cNvSpPr>
            <a:spLocks noChangeArrowheads="1"/>
          </p:cNvSpPr>
          <p:nvPr/>
        </p:nvSpPr>
        <p:spPr bwMode="auto">
          <a:xfrm rot="10800000" flipV="1">
            <a:off x="629920" y="805892"/>
            <a:ext cx="1136904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1800" dirty="0"/>
              <a:t>The proposed LaTeX Diagram Generator stands out by combining natural language understanding, self-correcting code generation, and academic-focused design into a single intelligent system.</a:t>
            </a:r>
          </a:p>
          <a:p>
            <a:pPr algn="just"/>
            <a:endParaRPr lang="en-US" sz="1800" dirty="0"/>
          </a:p>
          <a:p>
            <a:pPr marL="285750" indent="-285750" algn="just">
              <a:buFont typeface="Arial" panose="020B0604020202020204" pitchFamily="34" charset="0"/>
              <a:buChar char="•"/>
            </a:pPr>
            <a:r>
              <a:rPr lang="en-US" sz="1800" b="1" dirty="0"/>
              <a:t>Language-to-Code Intelligence</a:t>
            </a:r>
            <a:r>
              <a:rPr lang="en-US" sz="1800" dirty="0"/>
              <a:t> – Translates plain-English descriptions directly into complete, </a:t>
            </a:r>
            <a:r>
              <a:rPr lang="en-US" sz="1800" dirty="0" err="1"/>
              <a:t>compilable</a:t>
            </a:r>
            <a:r>
              <a:rPr lang="en-US" sz="1800" dirty="0"/>
              <a:t> </a:t>
            </a:r>
            <a:r>
              <a:rPr lang="en-US" sz="1800" dirty="0" err="1"/>
              <a:t>TikZ</a:t>
            </a:r>
            <a:r>
              <a:rPr lang="en-US" sz="1800" dirty="0"/>
              <a:t> code, no syntax knowledge required.</a:t>
            </a:r>
          </a:p>
          <a:p>
            <a:pPr marL="285750" indent="-285750" algn="just">
              <a:buFont typeface="Arial" panose="020B0604020202020204" pitchFamily="34" charset="0"/>
              <a:buChar char="•"/>
            </a:pPr>
            <a:r>
              <a:rPr lang="en-US" sz="1800" b="1" dirty="0"/>
              <a:t>Self-Healing Compilation</a:t>
            </a:r>
            <a:r>
              <a:rPr lang="en-US" sz="1800" dirty="0"/>
              <a:t> – Automatically detects and fixes compilation errors instead of dumping cryptic logs on the user.</a:t>
            </a:r>
          </a:p>
          <a:p>
            <a:pPr marL="285750" indent="-285750" algn="just">
              <a:buFont typeface="Arial" panose="020B0604020202020204" pitchFamily="34" charset="0"/>
              <a:buChar char="•"/>
            </a:pPr>
            <a:r>
              <a:rPr lang="en-US" sz="1800" b="1" dirty="0"/>
              <a:t>Sketch-to-Code Interpretation</a:t>
            </a:r>
            <a:r>
              <a:rPr lang="en-US" sz="1800" dirty="0"/>
              <a:t> – Accepts hand-drawn diagrams as input, turning rough sketches into polished, publication-ready output.</a:t>
            </a:r>
          </a:p>
          <a:p>
            <a:pPr marL="285750" indent="-285750" algn="just">
              <a:buFont typeface="Arial" panose="020B0604020202020204" pitchFamily="34" charset="0"/>
              <a:buChar char="•"/>
            </a:pPr>
            <a:r>
              <a:rPr lang="en-US" sz="1800" b="1" dirty="0"/>
              <a:t>Conversational Refinement</a:t>
            </a:r>
            <a:r>
              <a:rPr lang="en-US" sz="1800" dirty="0"/>
              <a:t> – Supports plain-English edits ("curve the arrows," "add spacing") without touching code.</a:t>
            </a:r>
          </a:p>
          <a:p>
            <a:pPr marL="285750" indent="-285750" algn="just">
              <a:buFont typeface="Arial" panose="020B0604020202020204" pitchFamily="34" charset="0"/>
              <a:buChar char="•"/>
            </a:pPr>
            <a:r>
              <a:rPr lang="en-US" sz="1800" b="1" dirty="0"/>
              <a:t>Diagram-Type Awareness</a:t>
            </a:r>
            <a:r>
              <a:rPr lang="en-US" sz="1800" dirty="0"/>
              <a:t> – Auto-detects diagram category and applies the right styling and academic formatting conventions.</a:t>
            </a:r>
          </a:p>
          <a:p>
            <a:pPr marL="285750" indent="-285750" algn="just">
              <a:buFont typeface="Arial" panose="020B0604020202020204" pitchFamily="34" charset="0"/>
              <a:buChar char="•"/>
            </a:pPr>
            <a:r>
              <a:rPr lang="en-US" sz="1800" b="1" dirty="0"/>
              <a:t>Real-Time Preview</a:t>
            </a:r>
            <a:r>
              <a:rPr lang="en-US" sz="1800" dirty="0"/>
              <a:t> – Shows live compiled output as the user iterates, instead of a slow write-compile-check cycle.</a:t>
            </a:r>
          </a:p>
          <a:p>
            <a:pPr marL="285750" indent="-285750" algn="just">
              <a:buFont typeface="Arial" panose="020B0604020202020204" pitchFamily="34" charset="0"/>
              <a:buChar char="•"/>
            </a:pPr>
            <a:r>
              <a:rPr lang="en-US" sz="1800" b="1" dirty="0"/>
              <a:t>Version-Controlled Iteration</a:t>
            </a:r>
            <a:r>
              <a:rPr lang="en-US" sz="1800" dirty="0"/>
              <a:t> – Tracks diagram history for easy comparison and rollback.</a:t>
            </a:r>
          </a:p>
          <a:p>
            <a:pPr marL="285750" indent="-285750" algn="just">
              <a:buFont typeface="Arial" panose="020B0604020202020204" pitchFamily="34" charset="0"/>
              <a:buChar char="•"/>
            </a:pPr>
            <a:r>
              <a:rPr lang="en-US" sz="1800" b="1" dirty="0"/>
              <a:t>Scalable &amp; Enterprise-Ready</a:t>
            </a:r>
            <a:r>
              <a:rPr lang="en-US" sz="1800" dirty="0"/>
              <a:t> – Built on IBM watsonx.ai with Granite models for reliable, governed AI inference.</a:t>
            </a:r>
          </a:p>
          <a:p>
            <a:pPr algn="just"/>
            <a:r>
              <a:rPr lang="en-US" sz="1800" dirty="0"/>
              <a:t>This makes the solution a smart research companion for technical diagramming — one that understands LaTeX, fixes its own errors, and speaks the researcher's language.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912338"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endParaRPr dirty="0"/>
          </a:p>
          <a:p>
            <a:pPr lvl="0">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Please test and Paste the working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URL –</a:t>
            </a:r>
            <a:r>
              <a:rPr lang="en-US" sz="1850" dirty="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hlinkClick r:id="rId3"/>
              </a:rPr>
              <a:t>https://github.com/lavishaoberoi/AI-Powered-LaTeX-Diagram-Generator-for-Academic-Research.git</a:t>
            </a:r>
            <a:endParaRPr dirty="0"/>
          </a:p>
          <a:p>
            <a:pPr marL="0" marR="0" lvl="0" indent="0" algn="l" rtl="0">
              <a:lnSpc>
                <a:spcPct val="162162"/>
              </a:lnSpc>
              <a:spcBef>
                <a:spcPts val="0"/>
              </a:spcBef>
              <a:spcAft>
                <a:spcPts val="0"/>
              </a:spcAft>
              <a:buNone/>
            </a:pPr>
            <a:endParaRPr lang="en-US" sz="1850" b="1" i="0" u="none" strike="noStrike" cap="none"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None/>
            </a:pPr>
            <a:r>
              <a:rPr lang="en-US" sz="1850" b="1" i="0" u="none" strike="noStrike" cap="none" dirty="0">
                <a:solidFill>
                  <a:srgbClr val="2B3541"/>
                </a:solidFill>
                <a:latin typeface="Times New Roman"/>
                <a:ea typeface="Times New Roman"/>
                <a:cs typeface="Times New Roman"/>
                <a:sym typeface="Times New Roman"/>
              </a:rPr>
              <a:t>Make sure you have Uploaded following three files into your </a:t>
            </a:r>
            <a:r>
              <a:rPr lang="en-US" sz="1850" b="1" i="0" u="none" strike="noStrike" cap="none" dirty="0" err="1">
                <a:solidFill>
                  <a:srgbClr val="2B3541"/>
                </a:solidFill>
                <a:latin typeface="Times New Roman"/>
                <a:ea typeface="Times New Roman"/>
                <a:cs typeface="Times New Roman"/>
                <a:sym typeface="Times New Roman"/>
              </a:rPr>
              <a:t>github</a:t>
            </a:r>
            <a:r>
              <a:rPr lang="en-US" sz="1850" b="1" i="0" u="none" strike="noStrike" cap="none" dirty="0">
                <a:solidFill>
                  <a:srgbClr val="2B3541"/>
                </a:solidFill>
                <a:latin typeface="Times New Roman"/>
                <a:ea typeface="Times New Roman"/>
                <a:cs typeface="Times New Roman"/>
                <a:sym typeface="Times New Roman"/>
              </a:rPr>
              <a:t> repository  </a:t>
            </a:r>
            <a:br>
              <a:rPr lang="en-US" sz="1850" b="0" i="0" u="none" strike="noStrike" cap="none" dirty="0">
                <a:solidFill>
                  <a:srgbClr val="2B3541"/>
                </a:solidFill>
                <a:latin typeface="Times New Roman"/>
                <a:ea typeface="Times New Roman"/>
                <a:cs typeface="Times New Roman"/>
                <a:sym typeface="Times New Roman"/>
              </a:rPr>
            </a:br>
            <a:r>
              <a:rPr lang="en-US" sz="1850" b="0" i="0" u="none" strike="noStrike" cap="none" dirty="0">
                <a:solidFill>
                  <a:srgbClr val="2B3541"/>
                </a:solidFill>
                <a:latin typeface="Times New Roman"/>
                <a:ea typeface="Times New Roman"/>
                <a:cs typeface="Times New Roman"/>
                <a:sym typeface="Times New Roman"/>
              </a:rPr>
              <a:t>1) </a:t>
            </a:r>
            <a:r>
              <a:rPr lang="en-US" sz="1850" b="0" i="0" u="none" strike="noStrike" cap="none" dirty="0" err="1">
                <a:solidFill>
                  <a:srgbClr val="2B3541"/>
                </a:solidFill>
                <a:latin typeface="Times New Roman"/>
                <a:ea typeface="Times New Roman"/>
                <a:cs typeface="Times New Roman"/>
                <a:sym typeface="Times New Roman"/>
              </a:rPr>
              <a:t>app.json</a:t>
            </a:r>
            <a:r>
              <a:rPr lang="en-US" sz="1850" b="0" i="0" u="none" strike="noStrike" cap="none"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dirty="0"/>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BFFD63-FE2E-DCFC-84EF-42D6BFA41DD0}"/>
              </a:ext>
            </a:extLst>
          </p:cNvPr>
          <p:cNvPicPr>
            <a:picLocks noChangeAspect="1"/>
          </p:cNvPicPr>
          <p:nvPr/>
        </p:nvPicPr>
        <p:blipFill>
          <a:blip r:embed="rId2"/>
          <a:stretch>
            <a:fillRect/>
          </a:stretch>
        </p:blipFill>
        <p:spPr>
          <a:xfrm>
            <a:off x="364102" y="439615"/>
            <a:ext cx="11222317" cy="5794131"/>
          </a:xfrm>
          <a:prstGeom prst="rect">
            <a:avLst/>
          </a:prstGeom>
        </p:spPr>
      </p:pic>
    </p:spTree>
    <p:extLst>
      <p:ext uri="{BB962C8B-B14F-4D97-AF65-F5344CB8AC3E}">
        <p14:creationId xmlns:p14="http://schemas.microsoft.com/office/powerpoint/2010/main" val="3391496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218724" y="1089738"/>
            <a:ext cx="9214580" cy="4277001"/>
          </a:xfrm>
          <a:prstGeom prst="rect">
            <a:avLst/>
          </a:prstGeom>
          <a:noFill/>
          <a:ln>
            <a:noFill/>
          </a:ln>
        </p:spPr>
        <p:txBody>
          <a:bodyPr spcFirstLastPara="1" wrap="square" lIns="0" tIns="0" rIns="0" bIns="0" anchor="t" anchorCtr="0">
            <a:noAutofit/>
          </a:bodyPr>
          <a:lstStyle/>
          <a:p>
            <a:r>
              <a:rPr lang="en-US" sz="2000" b="1" dirty="0"/>
              <a:t>1. Overleaf &amp; LaTeX Editor Integration –</a:t>
            </a:r>
            <a:br>
              <a:rPr lang="en-US" sz="2000" dirty="0"/>
            </a:br>
            <a:r>
              <a:rPr lang="en-US" sz="2000" dirty="0"/>
              <a:t>The system can be integrated as a plugin or extension for Overleaf and popular LaTeX editors (VS Code, </a:t>
            </a:r>
            <a:r>
              <a:rPr lang="en-US" sz="2000" dirty="0" err="1"/>
              <a:t>TeXstudio</a:t>
            </a:r>
            <a:r>
              <a:rPr lang="en-US" sz="2000" dirty="0"/>
              <a:t>), allowing researchers to generate and refine diagrams directly within their existing writing workflow instead of switching between tools.</a:t>
            </a:r>
          </a:p>
          <a:p>
            <a:r>
              <a:rPr lang="en-US" sz="2000" b="1" dirty="0"/>
              <a:t>2. Vision-Based Sketch Recognition –</a:t>
            </a:r>
            <a:br>
              <a:rPr lang="en-US" sz="2000" dirty="0"/>
            </a:br>
            <a:r>
              <a:rPr lang="en-US" sz="2000" dirty="0"/>
              <a:t>Upgrading the sketch interpretation module with a dedicated vision model (rather than a text-description fallback) would allow the system to directly analyze hand-drawn images — recognizing shapes, arrows, and layout — for far more accurate sketch-to-</a:t>
            </a:r>
            <a:r>
              <a:rPr lang="en-US" sz="2000" dirty="0" err="1"/>
              <a:t>TikZ</a:t>
            </a:r>
            <a:r>
              <a:rPr lang="en-US" sz="2000" dirty="0"/>
              <a:t> conversion.</a:t>
            </a:r>
          </a:p>
          <a:p>
            <a:r>
              <a:rPr lang="en-US" sz="2000" b="1" dirty="0"/>
              <a:t>3. Collaborative Diagram Editing –</a:t>
            </a:r>
            <a:br>
              <a:rPr lang="en-US" sz="2000" dirty="0"/>
            </a:br>
            <a:r>
              <a:rPr lang="en-US" sz="2000" dirty="0"/>
              <a:t>Adding real-time multi-user collaboration would let research teams co-edit diagrams together, similar to shared document editing, with live cursors and simultaneous refinement requests.</a:t>
            </a:r>
          </a:p>
          <a:p>
            <a:r>
              <a:rPr lang="en-US" sz="2000" b="1" dirty="0"/>
              <a:t>4. Journal-Specific Formatting Templates –</a:t>
            </a:r>
            <a:br>
              <a:rPr lang="en-US" sz="2000" dirty="0"/>
            </a:br>
            <a:r>
              <a:rPr lang="en-US" sz="2000" dirty="0"/>
              <a:t>Expanding the style profiles to auto-format diagrams according to specific journal or conference guidelines (IEEE, ACM, Springer, Nature) would save researchers additional formatting effort before submission.</a:t>
            </a: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43"/>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err="1">
                <a:solidFill>
                  <a:srgbClr val="000000"/>
                </a:solidFill>
                <a:latin typeface="Arial"/>
                <a:ea typeface="Arial"/>
                <a:cs typeface="Arial"/>
                <a:sym typeface="Arial"/>
              </a:rPr>
              <a:t>credly</a:t>
            </a:r>
            <a:r>
              <a:rPr lang="en-US" sz="2800" b="1" i="0" u="none" strike="noStrike" cap="none" dirty="0">
                <a:solidFill>
                  <a:srgbClr val="000000"/>
                </a:solidFill>
                <a:latin typeface="Arial"/>
                <a:ea typeface="Arial"/>
                <a:cs typeface="Arial"/>
                <a:sym typeface="Arial"/>
              </a:rPr>
              <a:t> certificate </a:t>
            </a:r>
            <a:endParaRPr dirty="0"/>
          </a:p>
        </p:txBody>
      </p:sp>
      <p:pic>
        <p:nvPicPr>
          <p:cNvPr id="3" name="Picture 2">
            <a:extLst>
              <a:ext uri="{FF2B5EF4-FFF2-40B4-BE49-F238E27FC236}">
                <a16:creationId xmlns:a16="http://schemas.microsoft.com/office/drawing/2014/main" id="{F2FBD5A8-F837-8050-1AD6-579F366FC94E}"/>
              </a:ext>
            </a:extLst>
          </p:cNvPr>
          <p:cNvPicPr>
            <a:picLocks noChangeAspect="1"/>
          </p:cNvPicPr>
          <p:nvPr/>
        </p:nvPicPr>
        <p:blipFill>
          <a:blip r:embed="rId3"/>
          <a:stretch>
            <a:fillRect/>
          </a:stretch>
        </p:blipFill>
        <p:spPr>
          <a:xfrm>
            <a:off x="2522836" y="1587922"/>
            <a:ext cx="6073666" cy="458001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IBM BOB Certificate</a:t>
            </a:r>
            <a:endParaRPr dirty="0"/>
          </a:p>
        </p:txBody>
      </p:sp>
      <p:pic>
        <p:nvPicPr>
          <p:cNvPr id="3" name="Picture 2">
            <a:extLst>
              <a:ext uri="{FF2B5EF4-FFF2-40B4-BE49-F238E27FC236}">
                <a16:creationId xmlns:a16="http://schemas.microsoft.com/office/drawing/2014/main" id="{54255DC3-FBC8-FF35-E2C0-879B44A34537}"/>
              </a:ext>
            </a:extLst>
          </p:cNvPr>
          <p:cNvPicPr>
            <a:picLocks noChangeAspect="1"/>
          </p:cNvPicPr>
          <p:nvPr/>
        </p:nvPicPr>
        <p:blipFill>
          <a:blip r:embed="rId3"/>
          <a:stretch>
            <a:fillRect/>
          </a:stretch>
        </p:blipFill>
        <p:spPr>
          <a:xfrm>
            <a:off x="3001473" y="1774659"/>
            <a:ext cx="6371693" cy="393471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1932</Words>
  <Application>Microsoft Office PowerPoint</Application>
  <PresentationFormat>Widescreen</PresentationFormat>
  <Paragraphs>129</Paragraphs>
  <Slides>19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Lavisha Oberoi</cp:lastModifiedBy>
  <cp:revision>4</cp:revision>
  <dcterms:created xsi:type="dcterms:W3CDTF">2025-07-08T05:06:56Z</dcterms:created>
  <dcterms:modified xsi:type="dcterms:W3CDTF">2026-07-14T19:10:58Z</dcterms:modified>
</cp:coreProperties>
</file>